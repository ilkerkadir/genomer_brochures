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04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4800"/>
            <a:ext cx="1488132" cy="457200"/>
          </a:xfrm>
          <a:prstGeom prst="rect">
            <a:avLst/>
          </a:prstGeom>
        </p:spPr>
      </p:pic>
      <p:pic>
        <p:nvPicPr>
          <p:cNvPr id="3" name="Image 1" descr="/Users/ilkerkadirozturk/Documents/genomer_brochures/sunum/slides/icon-d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99" y="1746275"/>
            <a:ext cx="1650950" cy="1650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1778347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Microbiome Testing Line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09600" y="2289423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Product Portfolio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09600" y="2705249"/>
            <a:ext cx="518154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real-time PCR-based molecular diagnostics for quantitative microbiota assessment across gynecological, pediatric, and urological applications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0" y="4584799"/>
            <a:ext cx="9144000" cy="558701"/>
          </a:xfrm>
          <a:prstGeom prst="rect">
            <a:avLst/>
          </a:prstGeom>
          <a:solidFill>
            <a:srgbClr val="0F4C7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9600" y="4807000"/>
            <a:ext cx="13355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Healthcare Professionals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586365" y="4807000"/>
            <a:ext cx="966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www.genomer.com.tr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B26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6751"/>
            <a:ext cx="1904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</a:t>
            </a:r>
            <a:endParaRPr lang="en-US" sz="18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905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838051"/>
            <a:ext cx="2692450" cy="3997672"/>
          </a:xfrm>
          <a:prstGeom prst="roundRect">
            <a:avLst>
              <a:gd name="adj" fmla="val 2830"/>
            </a:avLst>
          </a:prstGeom>
          <a:solidFill>
            <a:srgbClr val="F5E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79363" y="838051"/>
            <a:ext cx="0" cy="3997672"/>
          </a:xfrm>
          <a:prstGeom prst="line">
            <a:avLst/>
          </a:prstGeom>
          <a:noFill/>
          <a:ln w="47625">
            <a:solidFill>
              <a:srgbClr val="7B4B9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580876" y="1015752"/>
            <a:ext cx="23352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876" y="1266527"/>
            <a:ext cx="233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Urogenital Microbiota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3276" y="1507778"/>
            <a:ext cx="2137023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 variants: FEMOBIOME II (16 tubes), PrimaScreen (8 tubes), SecundaScreen (8 tubes)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Normobiota, anaerobes, aerobes, mycoplasmas, STIs, HPV, herpesviruses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Vaginal and cervical sampling incl. self-collection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traffic light reporting system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25701" y="838051"/>
            <a:ext cx="2692598" cy="3997672"/>
          </a:xfrm>
          <a:prstGeom prst="roundRect">
            <a:avLst>
              <a:gd name="adj" fmla="val 283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49513" y="838051"/>
            <a:ext cx="0" cy="3997672"/>
          </a:xfrm>
          <a:prstGeom prst="line">
            <a:avLst/>
          </a:prstGeom>
          <a:noFill/>
          <a:ln w="476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3451027" y="1015752"/>
            <a:ext cx="2335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51027" y="1266527"/>
            <a:ext cx="23353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Gut Microbiota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03427" y="1507778"/>
            <a:ext cx="2137172" cy="115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99.9% of prokaryotic mass in children's feces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bacterial phyla + Euryarchaeota + Candida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Pathogenicity markers: mecA, srr2, tcdA, tcdB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Normocenosis/dysbiosis status with diversity estimation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96000" y="838051"/>
            <a:ext cx="2692450" cy="3997672"/>
          </a:xfrm>
          <a:prstGeom prst="roundRect">
            <a:avLst>
              <a:gd name="adj" fmla="val 283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119813" y="838051"/>
            <a:ext cx="0" cy="3997672"/>
          </a:xfrm>
          <a:prstGeom prst="line">
            <a:avLst/>
          </a:prstGeom>
          <a:noFill/>
          <a:ln w="476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4"/>
          <p:cNvSpPr/>
          <p:nvPr/>
        </p:nvSpPr>
        <p:spPr>
          <a:xfrm>
            <a:off x="6321326" y="1015752"/>
            <a:ext cx="23352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21326" y="1266527"/>
            <a:ext cx="233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Urogenital Microbiota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73726" y="1507778"/>
            <a:ext cx="2137023" cy="115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variants: Androbiome (full) and Androbiome Screen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analogues worldwide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opportunistic microbiota and STI detection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biomaterial types supported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4840486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8"/>
          <p:cNvSpPr/>
          <p:nvPr/>
        </p:nvSpPr>
        <p:spPr>
          <a:xfrm>
            <a:off x="355550" y="4946749"/>
            <a:ext cx="8601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use real-time PCR technology with quantitative results | From sample collection to report interpretation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52395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LINE — Women's Microbiota Assessment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36550"/>
            <a:ext cx="8432899" cy="599182"/>
          </a:xfrm>
          <a:prstGeom prst="roundRect">
            <a:avLst>
              <a:gd name="adj" fmla="val 8478"/>
            </a:avLst>
          </a:prstGeom>
          <a:solidFill>
            <a:srgbClr val="F5E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4150" y="863501"/>
            <a:ext cx="813521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5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line of tests for comprehensive women's urogenital microbiota profiling with real-time PCR. Features optimized pathogen panels, quantitative GBS assessment for pregnancy, and viral detection including HPV and herpesviruses.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55550" y="1462683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in FEMOBIOME II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7950" y="1681758"/>
            <a:ext cx="3937099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and optimized microorganism detection panel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informative normobiota evaluation across age groups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Group B Streptococcus assessment for pregnancy planning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Obligate pathogen control for asymptomatic infections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detection: types 16, 18, 45 + 11 additional high-risk types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Herpesvirus detection: HSV-1, HSV-2, CMV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1462683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Test Variants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98950" y="1681758"/>
            <a:ext cx="4089499" cy="511076"/>
          </a:xfrm>
          <a:prstGeom prst="roundRect">
            <a:avLst>
              <a:gd name="adj" fmla="val 9940"/>
            </a:avLst>
          </a:prstGeom>
          <a:solidFill>
            <a:srgbClr val="FAF5FC"/>
          </a:solidFill>
          <a:ln w="9525">
            <a:solidFill>
              <a:srgbClr val="E8D5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35426" y="1780133"/>
            <a:ext cx="389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35426" y="1951583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test — 16 tubes. Most comprehensive capabilities for full microbiota profiling.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98950" y="2269034"/>
            <a:ext cx="4089499" cy="511076"/>
          </a:xfrm>
          <a:prstGeom prst="roundRect">
            <a:avLst>
              <a:gd name="adj" fmla="val 9940"/>
            </a:avLst>
          </a:prstGeom>
          <a:solidFill>
            <a:srgbClr val="FAF5FC"/>
          </a:solidFill>
          <a:ln w="9525">
            <a:solidFill>
              <a:srgbClr val="E8D5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35426" y="2367409"/>
            <a:ext cx="389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PrimaScreen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35426" y="2538859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Shortened version — 8 tubes. Focused on bacterial vaginosis diagnostics.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698950" y="2856309"/>
            <a:ext cx="4089499" cy="511076"/>
          </a:xfrm>
          <a:prstGeom prst="roundRect">
            <a:avLst>
              <a:gd name="adj" fmla="val 9940"/>
            </a:avLst>
          </a:prstGeom>
          <a:solidFill>
            <a:srgbClr val="FAF5FC"/>
          </a:solidFill>
          <a:ln w="9525">
            <a:solidFill>
              <a:srgbClr val="E8D5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35426" y="2954685"/>
            <a:ext cx="389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SecundaScreen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35426" y="3126135"/>
            <a:ext cx="3892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test — 8 tubes. Infectious and inflammatory urogenital disease diagnostics.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43077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Detection Panel Comparison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36550"/>
            <a:ext cx="35173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comparison of microorganisms detected by each test variant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5550" y="4946749"/>
            <a:ext cx="8601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provides the most clinically comprehensive profiling across all categories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977801"/>
          <a:ext cx="8127950" cy="368290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Organism / Marker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FB II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Prima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Secunda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Control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Human DNA / Total bacterial load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Normobiota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Lactobacillus spp., L. crispatus, L. jensenii, L. gasseri, L. iners, Bifidobacterium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Aerobes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Staphylococcus, Streptococcus, S. agalactiae, Enterobacteriaceae, Enterococcus, Haemophilus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Anaerobes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Gardnerella, Fannyhessea, Mobiluncus, Anaerococcus, Peptostreptococcus, Bacteroides/Prevotella, Sneathia, Megasphaera, BVAB1-3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Key only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Mycoplasmas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U. urealyticum, U. parvum, M. hominis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Yeast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Candida spp., Candida albicans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STIs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C. trachomatis, M. genitalium, N. gonorrhoeae, T. vaginalis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Herpes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HSV-1, HSV-2, CMV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5C3470"/>
                          </a:solidFill>
                        </a:rPr>
                        <a:t>HPV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HPV 16, 18, 45 + 11 high-risk types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45559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Clinical Indications &amp; Sampling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Indications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5550" y="1006376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Infectious Diseases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55550" y="1145977"/>
            <a:ext cx="417128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Inflammatory symptoms → FEMOBIOME II; BV symptoms → FEMOBIOME II or SecundaScreen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55550" y="1572518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Asymptomatic Cases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55550" y="1712119"/>
            <a:ext cx="417128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for pelvic surgery; Preventive screening → FEMOBIOME II or PrimaScreen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5550" y="1976140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Monitoring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55550" y="2115741"/>
            <a:ext cx="417128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Post-treatment assessment of infectious diseases and BV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55550" y="2379762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Obstetrics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5550" y="2519363"/>
            <a:ext cx="417128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Pregnancy planning and ART; Prophylactic exams during pregnancy; Infertility and miscarriage workup → FEMOBIOME II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989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Biomaterial &amp; Preparation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98950" y="1006376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Types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851350" y="1171426"/>
            <a:ext cx="3937099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Vaginal swab (specialist or self-collected)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Cervical swab in transport medium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 liquid cytology media (PreservCyt, BD SurePath, EASYPREP, CellPrep)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98950" y="2014686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Preparation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851350" y="2179737"/>
            <a:ext cx="3937099" cy="965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24h: No syringing, tampons, antiseptics, transvaginal ultrasound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48h: No colposcopy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72h: No unprotected sexual contacts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 after antibiotic/probiotic therapy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 after STI therapy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95263"/>
            <a:ext cx="359488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Report Interpretation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259" y="16505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Light Indicator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5550" y="3266777"/>
            <a:ext cx="41712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800"/>
              </a:spcBef>
              <a:buNone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Mycoplasmas: U. urealyticum, U. parvum, M. hominis. Candida: C. spp., C. albicans. Thresholds: ≥10⁴ GE/ml.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698950" y="762000"/>
            <a:ext cx="4171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Components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51350" y="1006376"/>
            <a:ext cx="3937099" cy="115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icon — visual summary combining microbiota state and pathogen presence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histogram — proportions of normobiota, anaerobes, aerobes, and mycoplasmas with color-coded quantity levels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Columnar histogram — detailed distribution of conditionally pathogenic microorganisms within each group</a:t>
            </a:r>
            <a:endParaRPr lang="en-US" sz="800" dirty="0"/>
          </a:p>
          <a:p>
            <a:pPr marL="342900" indent="-342900" algn="l">
              <a:lnSpc>
                <a:spcPts val="136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comments and infographics for each patient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2284363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Categories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98950" y="250016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76651" y="2474863"/>
            <a:ext cx="3275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Eubiosis — no pathogens, no significant viruses/mycoplasmas/Candida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8950" y="271596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76651" y="2690664"/>
            <a:ext cx="3409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— moderate dysbiosis or elevated viruses/mycoplasmas/Candida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98950" y="293176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6651" y="2906464"/>
            <a:ext cx="25964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— severe dysbiosis or obligate pathogen detected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1006376"/>
          <a:ext cx="3810000" cy="2158901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Pathogens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Detected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No Pathogens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Viruses/Myco/Candida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≥10⁴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No Pathogens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No Significant</a:t>
                      </a:r>
                      <a:endParaRPr lang="en-US" sz="650" dirty="0"/>
                    </a:p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Findings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Eubiosis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RED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2400E"/>
                          </a:solidFill>
                        </a:rPr>
                        <a:t>YELLOW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065F46"/>
                          </a:solidFill>
                        </a:rPr>
                        <a:t>GREEN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Moderate</a:t>
                      </a:r>
                      <a:endParaRPr lang="en-US" sz="650" dirty="0"/>
                    </a:p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Dysbiosis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RED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2400E"/>
                          </a:solidFill>
                        </a:rPr>
                        <a:t>YELLOW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2400E"/>
                          </a:solidFill>
                        </a:rPr>
                        <a:t>YELLOW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Severe</a:t>
                      </a:r>
                      <a:endParaRPr lang="en-US" sz="650" dirty="0"/>
                    </a:p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5C3470"/>
                          </a:solidFill>
                        </a:rPr>
                        <a:t>Dysbiosis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RED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RED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991B1B"/>
                          </a:solidFill>
                        </a:rPr>
                        <a:t>RED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0338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Sample Report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94972" y="736550"/>
            <a:ext cx="13953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Eubiosis case — vaginal swab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55550" y="736550"/>
            <a:ext cx="3600152" cy="504527"/>
          </a:xfrm>
          <a:prstGeom prst="roundRect">
            <a:avLst>
              <a:gd name="adj" fmla="val 10069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6576" y="847576"/>
            <a:ext cx="3445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Eubiosis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6576" y="1034802"/>
            <a:ext cx="3445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microbiota dominance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55550" y="1291828"/>
            <a:ext cx="3600152" cy="900857"/>
          </a:xfrm>
          <a:prstGeom prst="rect">
            <a:avLst/>
          </a:prstGeom>
          <a:solidFill>
            <a:srgbClr val="F5E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4600" y="1291828"/>
            <a:ext cx="0" cy="900857"/>
          </a:xfrm>
          <a:prstGeom prst="line">
            <a:avLst/>
          </a:prstGeom>
          <a:noFill/>
          <a:ln w="38100">
            <a:solidFill>
              <a:srgbClr val="7B4B9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/>
          <p:nvPr/>
        </p:nvSpPr>
        <p:spPr>
          <a:xfrm>
            <a:off x="495151" y="1393329"/>
            <a:ext cx="34262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5151" y="1558379"/>
            <a:ext cx="342623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Microbiota status — eubiosis:</a:t>
            </a: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normobiota dominance, Lactobacillus spp. relative proportion 99.8% (L. crispatus, L. iners, L. jensenii).</a:t>
            </a:r>
            <a:endParaRPr lang="en-US" sz="700" dirty="0"/>
          </a:p>
          <a:p>
            <a:pPr marL="0" indent="0" algn="l">
              <a:lnSpc>
                <a:spcPts val="1050"/>
              </a:lnSpc>
              <a:buNone/>
            </a:pPr>
            <a:endParaRPr lang="en-US" sz="7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pathogens detected.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55550" y="2243435"/>
            <a:ext cx="3600152" cy="659457"/>
          </a:xfrm>
          <a:prstGeom prst="roundRect">
            <a:avLst>
              <a:gd name="adj" fmla="val 7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6576" y="2354461"/>
            <a:ext cx="34456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Biomaterial Control Parameters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6576" y="2509986"/>
            <a:ext cx="344566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genomic DNA:</a:t>
            </a: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4.9 lg GE/ml (Ref: ≥3.5)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6576" y="2650927"/>
            <a:ext cx="344566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bacterial load:</a:t>
            </a: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6.2 lg GE/ml (Ref: ≥4.0)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55550" y="2953643"/>
            <a:ext cx="3600152" cy="1647527"/>
          </a:xfrm>
          <a:prstGeom prst="roundRect">
            <a:avLst>
              <a:gd name="adj" fmla="val 308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6576" y="3026569"/>
            <a:ext cx="3445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Pathogens — All Not Detected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6576" y="3159919"/>
            <a:ext cx="344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SEXUALLY TRANSMITTED INFECTIONS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17327" y="3258294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Chlamydia trachomatis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detected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517327" y="3348930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Mycoplasma genitalium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detected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7327" y="3439567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Neisseria gonorrhoeae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detected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17327" y="3530203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Trichomonas vaginalis</a:t>
            </a: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detected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66576" y="3658939"/>
            <a:ext cx="344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HERPESVIRUSES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517327" y="3757315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HSV-1 — not detected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517327" y="3847951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HSV-2 — not detected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17327" y="3938588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CMV — not detected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466576" y="4067324"/>
            <a:ext cx="3445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PAPILLOMAVIRUSES (HPV)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517327" y="4165699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16 — not detected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517327" y="4256336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18 — not detected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517327" y="4346972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45 — not detected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517327" y="4437608"/>
            <a:ext cx="3393897" cy="9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31/33/35/39/51/52/56/58/59/66/68 — not detected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4108103" y="736550"/>
            <a:ext cx="47739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5C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Microbiota Composition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08103" y="952351"/>
            <a:ext cx="4680347" cy="203150"/>
          </a:xfrm>
          <a:prstGeom prst="roundRect">
            <a:avLst>
              <a:gd name="adj" fmla="val 1875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061299" y="952351"/>
            <a:ext cx="477395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Normobiota 99.8%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108103" y="1231553"/>
            <a:ext cx="47739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≥80% normobiota = eubiosis</a:t>
            </a:r>
            <a:endParaRPr lang="en-US" sz="5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08103" y="1368028"/>
          <a:ext cx="4680347" cy="914400"/>
        </p:xfrm>
        <a:graphic>
          <a:graphicData uri="http://schemas.openxmlformats.org/drawingml/2006/table">
            <a:tbl>
              <a:tblPr/>
              <a:tblGrid>
                <a:gridCol w="2574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</a:rPr>
                        <a:t>Microorganism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</a:rPr>
                        <a:t>lg GE/ml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NORMOBIOTA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Lactobacillus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6.2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99.8%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Bifidobacterium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1.7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AEROBES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Staphylococcus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Streptococcus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Enterobacteriaceae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Enterococcus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2.4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Haemophilus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ANAEROBES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Gardnerella vaginalis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Fannyhessea vaginae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Mobiluncus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Anaerococcus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2.9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Peptostreptococcus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2.6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Bacteroides / Prevotella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3.3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Sneathia / Leptotrichia / Fusobacterium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Megasphaera / Veillonella / Dialister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2.4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BVAB1 / BVAB2 / BVAB3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MYCOPLASMAS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Ureaplasma urealyticum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Ureaplasma parvum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&lt;4.0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&lt;1%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Mycoplasma hominis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0584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b="1" dirty="0">
                          <a:solidFill>
                            <a:srgbClr val="5C3470"/>
                          </a:solidFill>
                        </a:rPr>
                        <a:t>YEAST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Candida spp.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05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334155"/>
                          </a:solidFill>
                        </a:rPr>
                        <a:t>  Candida albicans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5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550" dirty="0"/>
                    </a:p>
                  </a:txBody>
                  <a:tcPr marL="18288" marR="18288" marT="18288" marB="18288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7B4B9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176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 — Technical Specifications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Specifications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1000" y="1006376"/>
            <a:ext cx="4038600" cy="130016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time: from 2.5 hours (with sample pretreatment)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formats: Automated (384-well) and manual (96-well)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S: 12 tests (24 for PrimaScreen/SecundaScreen)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 / A-TL: 24 tests (48 for PrimaScreen/SecundaScreen)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+2 to +8°C (packages S, A, A-TL)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-18 to -22°C (TechnoTaq MAX polymerase)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life: 12 months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medium: STOR-F, STOR-M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244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B4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Platforms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400" y="1031825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Platforms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24400" y="1196876"/>
            <a:ext cx="4038600" cy="3250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Allsheng Auto-Pure 96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 Flex (PREP-MB-RAPID II)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1648867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Cytology Media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24400" y="1813917"/>
            <a:ext cx="4038600" cy="812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PreservCyt (Hologic Inc., USA)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SurePath (Becton, Dickinson, USA)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EASYPREP (YD Diagnostics, South Korea)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CellPrep (CP Biodyne, South Korea)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Preservative Solution (Human Lituo, China)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24400" y="2753469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Pretreatment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24400" y="2918520"/>
            <a:ext cx="4038600" cy="1625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PREP-PK for scrapes in BD SurePath and CellPrep media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6344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Children's Gut Microbiota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8382000" cy="577453"/>
          </a:xfrm>
          <a:prstGeom prst="roundRect">
            <a:avLst>
              <a:gd name="adj" fmla="val 8797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07950" y="888950"/>
            <a:ext cx="8290661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Reagent kit for quantitative analysis of gut microbiota composition in children's stool by real-time PCR. Detects microbial taxa covering 99.9% of total prokaryotic mass.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1000" y="1491853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1000" y="1736229"/>
            <a:ext cx="4038600" cy="130016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Actinomycetota: Bifidobacterium spp. (child and adult species), Coriobacteriia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Bacillota: Cl. leptum gr., F. prausnitzii, Lachnospiraceae, Lactobacillaceae, Streptococcus spp.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Bacteroidota: Bacteroides, Prevotella, Parabacteroides, Alistipes, Butyricimonas spp.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Verrucomicrobiota: Akkermansia muciniphila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Pseudomonadota: Enterobacterales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Euryarchaeota: Methanobacteriaceae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spp. (yeast fungi)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724400" y="1491853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24400" y="1736229"/>
            <a:ext cx="4038600" cy="113764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Normocenosis/dysbiosis status determination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microbiota diversity estimation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Bifidobacteria species-level identification (B. bifidum, B. longum, B. infantis, B. breve, B. adolescentis)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Bacillota/Bacteroidota ratio calculation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Pathogenicity and resistance markers: mecA (methicillin resistance), srr2 (S. agalactiae invasiveness), tcdA/tcdB (C. difficile toxins)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24400" y="3000821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Features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24400" y="3165872"/>
            <a:ext cx="4038600" cy="65008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 format with internal control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results generation via RealTime_PCR software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templates for major PCR instruments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Biomaterial: feces including meconium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6317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Microbiome Development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 of Gut Microbiota Formation in Children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1000" y="1006376"/>
            <a:ext cx="2019300" cy="654695"/>
          </a:xfrm>
          <a:prstGeom prst="roundRect">
            <a:avLst>
              <a:gd name="adj" fmla="val 7759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81000" y="1025426"/>
            <a:ext cx="20193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482501" y="1145977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Birth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2501" y="1311027"/>
            <a:ext cx="185262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Streptococcus spp., Enterobacterales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501801" y="1006376"/>
            <a:ext cx="2019449" cy="654695"/>
          </a:xfrm>
          <a:prstGeom prst="roundRect">
            <a:avLst>
              <a:gd name="adj" fmla="val 7759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501801" y="1025426"/>
            <a:ext cx="2019449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2603302" y="1145977"/>
            <a:ext cx="18527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14 Days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03302" y="1311027"/>
            <a:ext cx="18527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Bifidobacterium, Lactobacillaceae, Clostridium, Bacteroidota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622750" y="1006376"/>
            <a:ext cx="2019300" cy="654695"/>
          </a:xfrm>
          <a:prstGeom prst="roundRect">
            <a:avLst>
              <a:gd name="adj" fmla="val 7759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622750" y="1025426"/>
            <a:ext cx="20193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4724251" y="1145977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Complementary Foods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24251" y="1311027"/>
            <a:ext cx="18526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Bacteroidota, Bacillota, Verrucomicrobiota, Actinomycetota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743551" y="1006376"/>
            <a:ext cx="2019449" cy="654695"/>
          </a:xfrm>
          <a:prstGeom prst="roundRect">
            <a:avLst>
              <a:gd name="adj" fmla="val 775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743551" y="1025426"/>
            <a:ext cx="2019449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/>
          <p:nvPr/>
        </p:nvSpPr>
        <p:spPr>
          <a:xfrm>
            <a:off x="6845052" y="1145977"/>
            <a:ext cx="18527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Weaning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45052" y="1311027"/>
            <a:ext cx="185277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 — adult-like composition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81000" y="181347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Affecting Microbiota Formation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1000" y="2057846"/>
            <a:ext cx="8382000" cy="65008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of birth: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birth → stable composition; C-section → delayed colonization, more C. difficile, Enterococcus, Klebsiella, Veillonella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type: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Breastfed → Bifidobacterium dominant (B. breve, B. bifidum, B. longum); Formula-fed → Bacteroides and Clostridium dominant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Gestational age: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Preterm → delayed anaerobic colonization, higher Enterobacteriaceae and opportunistic organisms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 use: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diversity, increases drug-resistant Enterobacteriaceae and Clostridium, decreases Bifidobacteriaceae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81000" y="2809429"/>
            <a:ext cx="8382000" cy="345281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00050" y="2809429"/>
            <a:ext cx="0" cy="34528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/>
          <p:nvPr/>
        </p:nvSpPr>
        <p:spPr>
          <a:xfrm>
            <a:off x="520601" y="2910929"/>
            <a:ext cx="83037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species-rich gut ecosystem is more resilient to adverse stresses. Reduced diversity is associated with disease presence.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5347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Detailed Detection Panel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2711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Microbiota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1000" y="996851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Actinomycetota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81000" y="1149251"/>
            <a:ext cx="2658517" cy="73818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 spp. (child species: B. bifidum, B. longum, B. infantis, B. breve)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 spp. (adult species: B. adolescentis, B. catenulatum, B. animalis)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Coriobacteriia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1000" y="1988939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1000" y="2141339"/>
            <a:ext cx="2658517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Cl. leptum gr. (cluster IV)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prausnitzii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Lachnospiraceae (cluster XIVa)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Lactobacillaceae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Lactococcus lactis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Streptococcus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Veillonellaceae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Erysipelotrichaceae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42667" y="1015901"/>
            <a:ext cx="2711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Bacteroidota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42667" y="1168301"/>
            <a:ext cx="2658666" cy="73818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Bacteroides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Prevotella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Parabacteroides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Alistipes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Butyricimonas spp.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42667" y="2007989"/>
            <a:ext cx="2711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42667" y="2160389"/>
            <a:ext cx="2658666" cy="590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Akkermansia muciniphila (Verrucomicrobiota)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Blautia spp. (acetogens)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Desulfovibrio spp. (sulfate-reducing)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Methanobacteriaceae (methanogens)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104483" y="762000"/>
            <a:ext cx="2711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Opportunistic &amp; Markers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04483" y="996851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Pathobionts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04483" y="1149251"/>
            <a:ext cx="2658517" cy="88582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 (tcdA, tcdB markers)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perfringens gr.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Enterobacterales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Enterococcus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aureus (mecA marker)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agalactiae (srr2 marker)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104483" y="2136577"/>
            <a:ext cx="27116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Fungi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4483" y="2288977"/>
            <a:ext cx="2658517" cy="295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spp.</a:t>
            </a:r>
            <a:endParaRPr lang="en-US" sz="750" dirty="0"/>
          </a:p>
          <a:p>
            <a:pPr marL="76200" indent="-76200" algn="l">
              <a:lnSpc>
                <a:spcPts val="1163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albicans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973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Clinical Relevance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Clinical Markers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1000" y="1006376"/>
            <a:ext cx="4038600" cy="146268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Bacillota/Bacteroidota ratio: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Shift toward Bacteroidota may indicate inflammatory process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prausnitzii: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Anti-inflammatory biomarker. Promotes IL-10/IL-12 secretion, inhibits IL-8. Decreased in inflammatory bowel disease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Akkermansia muciniphila: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 mucin metabolizer. Enhances barrier function. Produces propionate and acetate for butyrate production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Bifidobacterium species: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Child species (B. bifidum, B. longum, B. infantis, B. breve) ferment breast milk oligosaccharides, activate T-regulatory cells. Adult species ferment plant polysaccharides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724400" y="762000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Associations &amp; Markers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400" y="1031825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Pathogenicity Markers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24400" y="1196876"/>
            <a:ext cx="4038600" cy="812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methicillin resistance in Staphylococcus; strains resistant to methicillin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srr2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S. agalactiae invasiveness; promotes bloodstream and CNS invasion, causing meningitis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tcdA / tcdB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C. difficile enterotoxins A and B; cause acute inflammation, intestinal barrier damage, fluid influx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2136428"/>
            <a:ext cx="4119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Associations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24400" y="2301478"/>
            <a:ext cx="4038600" cy="8126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IBD (UC, Crohn's): ↑ Bacteroides/Prevotella, ↓ F. prausnitzii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Celiac disease: ↓ Lactobacillus/Bifidobacteria, ↑ pro-inflammatory Veillonellaceae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Necrotizing enterocolitis (preterm): associated with C. perfringens and Enterobacterales</a:t>
            </a:r>
            <a:endParaRPr lang="en-US" sz="800" dirty="0"/>
          </a:p>
          <a:p>
            <a:pPr marL="88900" indent="-88900" algn="l">
              <a:lnSpc>
                <a:spcPts val="128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 carriage: up to 61% in children &lt;1 year; normally eliminated by ~2 years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5839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 — Report Output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550" y="711101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Form Components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55550" y="933152"/>
            <a:ext cx="4140250" cy="755303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65075" y="933152"/>
            <a:ext cx="0" cy="755303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476101" y="1022003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Normocenosis / Dysbiosis Status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76101" y="1164878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Determined by relative abundance of normobiota vs. opportunistic microbiota in TBM. Classification guides clinical decision-making.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76101" y="1463278"/>
            <a:ext cx="732383" cy="136327"/>
          </a:xfrm>
          <a:prstGeom prst="roundRect">
            <a:avLst>
              <a:gd name="adj" fmla="val 7452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7602" y="1488579"/>
            <a:ext cx="5399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Normocenosis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84684" y="1463278"/>
            <a:ext cx="922883" cy="136327"/>
          </a:xfrm>
          <a:prstGeom prst="roundRect">
            <a:avLst>
              <a:gd name="adj" fmla="val 7452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386185" y="1488579"/>
            <a:ext cx="7342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Dysbiosis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283768" y="1463278"/>
            <a:ext cx="834182" cy="136327"/>
          </a:xfrm>
          <a:prstGeom prst="roundRect">
            <a:avLst>
              <a:gd name="adj" fmla="val 7452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385268" y="1488579"/>
            <a:ext cx="6438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Dysbiosis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55550" y="1751856"/>
            <a:ext cx="4140250" cy="568226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65075" y="1751856"/>
            <a:ext cx="0" cy="56822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/>
          <p:nvPr/>
        </p:nvSpPr>
        <p:spPr>
          <a:xfrm>
            <a:off x="476101" y="1840706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Diversity Estimation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6101" y="1983581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microbiota diversity across 6 phyla: Actinomycetota, Bacillota, Bacteroidota, Pseudomonadota, Fusobacteriota, Verrucomicrobiota. Lower diversity correlates with disease risk.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55550" y="2383482"/>
            <a:ext cx="4140250" cy="568226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65075" y="2383482"/>
            <a:ext cx="0" cy="56822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476101" y="2472333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Bacillota / Bacteroidota Ratio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76101" y="2615208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gut balance indicator. Shift toward Bacteroidota may indicate inflammatory process. Associated with metabolic disorders, obesity, and IBD.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55550" y="3015109"/>
            <a:ext cx="4140250" cy="568226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65075" y="3015109"/>
            <a:ext cx="0" cy="56822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3"/>
          <p:cNvSpPr/>
          <p:nvPr/>
        </p:nvSpPr>
        <p:spPr>
          <a:xfrm>
            <a:off x="476101" y="3103959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Quantitative Assessment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6101" y="3246834"/>
            <a:ext cx="39965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Bifidobacteria/lactobacilli counts with species-level identification. Opportunistic microbiota and </a:t>
            </a:r>
            <a:r>
              <a:rPr lang="en-US" sz="65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</a:t>
            </a: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quantification. Includes </a:t>
            </a:r>
            <a:r>
              <a:rPr lang="en-US" sz="65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prausnitzii</a:t>
            </a: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650" i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Akkermansia muciniphila</a:t>
            </a:r>
            <a:r>
              <a:rPr lang="en-US" sz="6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anti-inflammatory biomarkers.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55550" y="3646736"/>
            <a:ext cx="4140250" cy="539651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365075" y="3646736"/>
            <a:ext cx="0" cy="539651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7"/>
          <p:cNvSpPr/>
          <p:nvPr/>
        </p:nvSpPr>
        <p:spPr>
          <a:xfrm>
            <a:off x="476101" y="3735586"/>
            <a:ext cx="39965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Associations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76101" y="3868936"/>
            <a:ext cx="3996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IBD: ↑ Bacteroides/Prevotella, ↓ F. prausnitzii. Celiac: ↓ Lactobacillus/Bifidobacteria. NEC: C. perfringens, Enterobacterales. C. difficile carriage patterns tracked.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48200" y="711101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Pathogenicity Markers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48200" y="933152"/>
            <a:ext cx="2038350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15256" y="1031528"/>
            <a:ext cx="1904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715256" y="1171129"/>
            <a:ext cx="1904238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Methicillin-resistant </a:t>
            </a: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Staphylococcus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6749951" y="933152"/>
            <a:ext cx="2038499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817005" y="1031528"/>
            <a:ext cx="1904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srr2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817005" y="1171129"/>
            <a:ext cx="1904390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Str. agalactiae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invasiveness; promotes meningitis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648200" y="1430536"/>
            <a:ext cx="2038350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15256" y="1528911"/>
            <a:ext cx="1904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tcdA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15256" y="1668512"/>
            <a:ext cx="1904238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enterotoxin A</a:t>
            </a:r>
            <a:endParaRPr lang="en-US" sz="550" dirty="0"/>
          </a:p>
        </p:txBody>
      </p:sp>
      <p:sp>
        <p:nvSpPr>
          <p:cNvPr id="42" name="Text 39"/>
          <p:cNvSpPr/>
          <p:nvPr/>
        </p:nvSpPr>
        <p:spPr>
          <a:xfrm>
            <a:off x="6749951" y="1430536"/>
            <a:ext cx="2038499" cy="433983"/>
          </a:xfrm>
          <a:prstGeom prst="roundRect">
            <a:avLst>
              <a:gd name="adj" fmla="val 877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817005" y="1528911"/>
            <a:ext cx="1904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tcdB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817005" y="1668512"/>
            <a:ext cx="1904390" cy="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spcBef>
                <a:spcPts val="200"/>
              </a:spcBef>
              <a:buNone/>
            </a:pPr>
            <a:r>
              <a:rPr lang="en-US" sz="5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difficile</a:t>
            </a:r>
            <a:r>
              <a:rPr lang="en-US" sz="5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enterotoxin B (cytotoxin)</a:t>
            </a:r>
            <a:endParaRPr lang="en-US" sz="550" dirty="0"/>
          </a:p>
        </p:txBody>
      </p:sp>
      <p:sp>
        <p:nvSpPr>
          <p:cNvPr id="45" name="Text 42"/>
          <p:cNvSpPr/>
          <p:nvPr/>
        </p:nvSpPr>
        <p:spPr>
          <a:xfrm>
            <a:off x="4648200" y="1927920"/>
            <a:ext cx="4140250" cy="711101"/>
          </a:xfrm>
          <a:prstGeom prst="roundRect">
            <a:avLst>
              <a:gd name="adj" fmla="val 5358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759226" y="2026295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Generation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759226" y="2169170"/>
            <a:ext cx="399656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form auto-generated with recommended Real-Time PCR instruments and RealTime_PCR software. Preset templates configure settings and calculate results automatically. No manual data entry required.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4648200" y="2702421"/>
            <a:ext cx="4140250" cy="1334691"/>
          </a:xfrm>
          <a:prstGeom prst="roundRect">
            <a:avLst>
              <a:gd name="adj" fmla="val 28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759226" y="2800796"/>
            <a:ext cx="39965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Includes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759226" y="2956322"/>
            <a:ext cx="3918198" cy="98241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normobiota estimation by phylum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Bifidobacteria species identification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Opportunistic microbiota and </a:t>
            </a:r>
            <a:r>
              <a:rPr lang="en-US" sz="6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</a:t>
            </a: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levels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 resistance markers (mecA)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Virulence markers (srr2, tcdA, tcdB)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Bacillota/Bacteroidota ratio calculation</a:t>
            </a:r>
            <a:endParaRPr lang="en-US" sz="650" dirty="0"/>
          </a:p>
          <a:p>
            <a:pPr marL="76200" indent="-76200" algn="l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dysbiosis classification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5738"/>
            <a:ext cx="45614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Male Urogenital Microbiota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301"/>
            <a:ext cx="8229600" cy="599182"/>
          </a:xfrm>
          <a:prstGeom prst="roundRect">
            <a:avLst>
              <a:gd name="adj" fmla="val 847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4150" y="914251"/>
            <a:ext cx="8135213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real-time PCR-based assay for male urogenital tract microbiota assessment and STI detection. No analogues worldwide. Hands-on time from 3 hours.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513433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(Full)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70705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microbiome structure assessment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884759"/>
            <a:ext cx="3987850" cy="13406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flora: Staphylococcus, Streptococcus, Corynebacterium, Lactobacillus spp.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BV-associated: Gardnerella, Megasphaera, Sneathia, Ureaplasma, Mycoplasma, Atopobium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Anaerobes: Bacteroides, Anaerococcus, Peptostreptococcus, Eubacterium spp.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OM: Haemophilus, Pseudomonas/Ralstonia/Burkholderia, Enterobacteriaceae/Enterococcus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Yeast: Candida spp.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STIs: C. trachomatis, M. genitalium, N. gonorrhoeae, T. vaginalis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98950" y="1513433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Screen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98950" y="170705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and acute diagnostics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8950" y="1884759"/>
            <a:ext cx="3987850" cy="100548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Shortened panel for rapid screening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Staphylococcus, Streptococcus, Corynebacterium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Opportunistic: Gardnerella, Ureaplasma, Mycoplasma, Enterobacteriaceae/Enterococcus, Candida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STI panel: C. trachomatis, M. genitalium, N. gonorrhoeae, T. vaginalis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acute urogenital tract diseases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98950" y="2966442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98950" y="3131493"/>
            <a:ext cx="3987850" cy="33516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Screen: Screening, differential diagnosis of acute forms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Chronic diseases, ineffective treatment, reproductive function, IVF preparation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5738"/>
            <a:ext cx="47343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Detection Panel Comparison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14480" y="787301"/>
            <a:ext cx="391489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comparison of organisms detected by Androbiome and Androbiome Screen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28417" y="2808684"/>
            <a:ext cx="21287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Androbiome Detection Panel Table ]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99868"/>
            <a:ext cx="8394192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tests: HSV1/HSV2/CMV, HPVQuant-21, BacScreen OM, FEMOBIOME (couple exam)</a:t>
            </a:r>
            <a:endParaRPr lang="en-US" sz="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102221"/>
          <a:ext cx="8127950" cy="355595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Organism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Full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Screen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Normal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Staphylococcus spp., Streptococcus spp., Corynebacterium spp.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Transit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Lactobacillus spp.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BV-associated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Gardnerella, Megasphaera/Veillonella/Dialister, Sneathia/Leptotrichia/Fusobacterium, Atopobium cluster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Mycoplasmas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Ureaplasma urealyticum, U. parvum, Mycoplasma hominis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Anaerobes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Bacteroides/Porphyromonas/Prevotella, Anaerococcus, Peptostreptococcus/Parvimonas, Eubacterium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Other OM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Haemophilus spp., Pseudomonas/Ralstonia/Burkholderia, Enterobacteriaceae/Enterococcus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6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Yeast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Candida spp.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b="1" dirty="0">
                          <a:solidFill>
                            <a:srgbClr val="0284C7"/>
                          </a:solidFill>
                        </a:rPr>
                        <a:t>STIs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C. trachomatis, M. genitalium, N. gonorrhoeae, T. vaginalis</a:t>
                      </a:r>
                      <a:endParaRPr lang="en-US" sz="65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95263"/>
            <a:ext cx="48531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Clinical Applications &amp; Sampling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Indications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981075"/>
            <a:ext cx="3987850" cy="8379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Screen: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Screening and differential diagnosis of acute urogenital diseases (urethritis, balanoposthitis)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(Full):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Chronic forms, ineffective treatment, reproductive function assessment, IVF preparation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 examination: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Combined with FEMOBIOME for infertility workup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920478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Requirements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2085529"/>
            <a:ext cx="3987850" cy="67032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 abstinence or barrier contraception for 3 days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antiseptics and antibacterial soaps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urinating 1.5-2 hours before urethral sampling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can be prescribed during antibiotic therapy for monitoring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Biomaterial Options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98950" y="981075"/>
            <a:ext cx="3987850" cy="100548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Epithelial scrapes: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Glans penis, foreskin, urethra (urethritis, balanoposthitis)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Ejaculate: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Epididymitis, prostatitis, asymptomatic STIs, male infertility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Prostatic fluid: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prostate massage (acute prostatitis: massage prohibited)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urine post-massage: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Alternative to prostatic fluid collection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First-portion urine: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 detection only (acute inflammation with pain)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b="1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Biopsy samples:</a:t>
            </a: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Prostatic tissue in sterile saline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98950" y="2088059"/>
            <a:ext cx="3987850" cy="507802"/>
          </a:xfrm>
          <a:prstGeom prst="roundRect">
            <a:avLst>
              <a:gd name="adj" fmla="val 500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718000" y="2088059"/>
            <a:ext cx="0" cy="50780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838551" y="2189559"/>
            <a:ext cx="38216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2-8°C up to 24 hours. Frozen: -18 to -22°C up to 1 month. Multiple PCR tests can use a single sample.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5738"/>
            <a:ext cx="40392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 — Results Interpretation</a:t>
            </a:r>
            <a:endParaRPr lang="en-US" sz="16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Interpretation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981075"/>
            <a:ext cx="3987850" cy="145494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obligate pathogens (STIs) and Candida spp. — reported even with insufficient biomaterial</a:t>
            </a:r>
            <a:endParaRPr lang="en-US" sz="800" dirty="0"/>
          </a:p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biomaterial compliance: Human DNA &gt;10³, TBM &gt;10⁴. Both below threshold → insufficient sample</a:t>
            </a:r>
            <a:endParaRPr lang="en-US" sz="800" dirty="0"/>
          </a:p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balance: normal vs opportunistic microbiota. Normal = 2+ genera of commensals at TBM &gt;10⁵</a:t>
            </a:r>
            <a:endParaRPr lang="en-US" sz="800" dirty="0"/>
          </a:p>
          <a:p>
            <a:pPr marL="88900" indent="-88900" algn="l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automatic conclusion: pathogen presence, Candida status, microbiome structure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524869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Microbiota (Lactobacillus)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2689920"/>
            <a:ext cx="3987850" cy="50274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of female partner's microbiota in male tract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&gt;10% of TBM → microbiome composition NOT analyzed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repeat with barrier contraception or 3-day abstinence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98950" y="762000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Indicators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98950" y="993725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Parameters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98950" y="1158776"/>
            <a:ext cx="3987850" cy="67032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DNA: shows amount of human genomic material in sample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Bacterial Mass (TBM): total bacteria for proportion calculations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Microorganisms Detected (TMD): mathematical parameter for group ratios</a:t>
            </a:r>
            <a:endParaRPr lang="en-US" sz="800" dirty="0"/>
          </a:p>
          <a:p>
            <a:pPr marL="76200" indent="-76200" algn="l">
              <a:lnSpc>
                <a:spcPts val="132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 and T. vaginalis NOT included in TBM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8950" y="1917948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Categories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98950" y="210829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51202" y="2082998"/>
            <a:ext cx="391231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composition — commensals (Staphylococcus, Streptococcus, Corynebacterium) dominant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98950" y="247144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51202" y="2446139"/>
            <a:ext cx="299358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disturbance — decreased normal microbiota proportion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98950" y="267206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51202" y="2646759"/>
            <a:ext cx="30628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disturbance — opportunistic predominance or STI detected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98950" y="2898130"/>
            <a:ext cx="4067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 Examination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98950" y="3063180"/>
            <a:ext cx="406760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ANDROBIOME + FEMOBIOME for comprehensive partner evaluation in infertility workup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B26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95263"/>
            <a:ext cx="43481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Platform — Why Real-Time PCR?</a:t>
            </a:r>
            <a:endParaRPr lang="en-US" sz="150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3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PCR vs. Alternative Methods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92101"/>
            <a:ext cx="2624733" cy="3898999"/>
          </a:xfrm>
          <a:prstGeom prst="roundRect">
            <a:avLst>
              <a:gd name="adj" fmla="val 1935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7200" y="1111151"/>
            <a:ext cx="2624733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609600" y="1282601"/>
            <a:ext cx="2366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Bacterial Culture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9600" y="1504801"/>
            <a:ext cx="2319933" cy="971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50-80% of gut microorganisms are difficult to culture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dependency on organism viability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anaerobes that culture methods miss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turnaround time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comprehensive coverage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59634" y="1092101"/>
            <a:ext cx="2624733" cy="3898999"/>
          </a:xfrm>
          <a:prstGeom prst="roundRect">
            <a:avLst>
              <a:gd name="adj" fmla="val 193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59634" y="1111151"/>
            <a:ext cx="2624733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3412034" y="1282601"/>
            <a:ext cx="2366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NGS Sequencing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12034" y="1504801"/>
            <a:ext cx="2319933" cy="971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clinically actionable without specialized interpretation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cost-effective for routine diagnostics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and reproducible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as routine clinical method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bioinformatics expertise required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62067" y="1092101"/>
            <a:ext cx="2624733" cy="3898999"/>
          </a:xfrm>
          <a:prstGeom prst="roundRect">
            <a:avLst>
              <a:gd name="adj" fmla="val 1935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062067" y="1111151"/>
            <a:ext cx="262473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6214467" y="1282601"/>
            <a:ext cx="23663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Platform Advantages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4467" y="1504801"/>
            <a:ext cx="2319933" cy="1133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All-in-one: from sample collection to report interpretation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(384-well) and manual (96-well) PCR formats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nucleic acid extraction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 format for efficiency</a:t>
            </a:r>
            <a:endParaRPr lang="en-US" sz="750" dirty="0"/>
          </a:p>
          <a:p>
            <a:pPr marL="76200" indent="-76200" algn="l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results with automatic interpretation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B26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0025"/>
            <a:ext cx="461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 &amp; Platform Compatibility</a:t>
            </a:r>
            <a:endParaRPr lang="en-US" sz="1450" dirty="0"/>
          </a:p>
        </p:txBody>
      </p:sp>
      <p:pic>
        <p:nvPicPr>
          <p:cNvPr id="4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59" y="152400"/>
            <a:ext cx="909191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301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&amp; PCR Platforms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31677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Extraction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196727"/>
            <a:ext cx="3962400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Allsheng Auto-Pure 96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 Flex (PREP-MB-RAPID II)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PREP-MB MAX (for ejaculate)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PREP-NA PLUS, PREP-GS PLUS (alternatives)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98938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Setup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2154436"/>
            <a:ext cx="3962400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384-well format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96-well format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templates for major real-time PCR instruments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results generation via RealTime_PCR software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24400" y="787301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Logistics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24400" y="1031677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Storage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24400" y="1196727"/>
            <a:ext cx="3962400" cy="51836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to +8°C: packages S, A, A-TL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to -22°C: TechnoTaq MAX polymerase (package A)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life: 12 months for all kits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24400" y="181659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Storage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24400" y="1981646"/>
            <a:ext cx="3962400" cy="51836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2-8°C: up to 24 hours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to -22°C: up to 1 month (frozen)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media: STOR-F, STOR-M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24400" y="260151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Liquid Cytology Media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24400" y="2766566"/>
            <a:ext cx="3962400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PreservCyt (Hologic Inc., USA)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SurePath (Becton, Dickinson, USA)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EASYPREP (YD Diagnostics, South Korea)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CellPrep (CP Biodyne, South Korea)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lkerkadirozturk/Documents/genomer_brochures/sunum/slides/genome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260" y="507950"/>
            <a:ext cx="1653183" cy="507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8141" y="1193602"/>
            <a:ext cx="40475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Microbiome Testing Solutions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491670" y="1618952"/>
            <a:ext cx="4160511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molecular diagnostics for clinical microbiota assessment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0498" y="2222450"/>
            <a:ext cx="2158901" cy="669875"/>
          </a:xfrm>
          <a:prstGeom prst="roundRect">
            <a:avLst>
              <a:gd name="adj" fmla="val 113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74073" y="2384375"/>
            <a:ext cx="1871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FEMOBIOME II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74073" y="2578001"/>
            <a:ext cx="1871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urogenital microbiota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92550" y="2222450"/>
            <a:ext cx="2158901" cy="669875"/>
          </a:xfrm>
          <a:prstGeom prst="roundRect">
            <a:avLst>
              <a:gd name="adj" fmla="val 113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36124" y="2384375"/>
            <a:ext cx="1871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ENTEROBIOME KIDS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36124" y="2578001"/>
            <a:ext cx="1871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gut microbiota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54601" y="2222450"/>
            <a:ext cx="2158901" cy="669875"/>
          </a:xfrm>
          <a:prstGeom prst="roundRect">
            <a:avLst>
              <a:gd name="adj" fmla="val 113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98175" y="2384375"/>
            <a:ext cx="1871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ANDROBIOME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98175" y="2578001"/>
            <a:ext cx="1871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urogenital microbiota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10628" y="4178498"/>
            <a:ext cx="1122596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inquiries and orders: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027630" y="4379119"/>
            <a:ext cx="10885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www.genomer.com.tr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76056" y="4599980"/>
            <a:ext cx="99174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info@genomer.com.tr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3271</Words>
  <Application>Microsoft Macintosh PowerPoint</Application>
  <PresentationFormat>On-screen Show (16:9)</PresentationFormat>
  <Paragraphs>573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Genomer Microbiome Testing Line — Clinical Product Portfolio</dc:title>
  <dc:subject>FEMOBIOME II LINE, ENTEROBIOME KIDS, ANDROBIOME</dc:subject>
  <dc:creator>Genomer</dc:creator>
  <cp:lastModifiedBy>Kadir Ozturk Ozturk</cp:lastModifiedBy>
  <cp:revision>2</cp:revision>
  <dcterms:created xsi:type="dcterms:W3CDTF">2026-01-30T11:48:51Z</dcterms:created>
  <dcterms:modified xsi:type="dcterms:W3CDTF">2026-02-02T03:53:40Z</dcterms:modified>
</cp:coreProperties>
</file>
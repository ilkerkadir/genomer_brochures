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778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4800"/>
            <a:ext cx="1488132" cy="457200"/>
          </a:xfrm>
          <a:prstGeom prst="rect">
            <a:avLst/>
          </a:prstGeom>
        </p:spPr>
      </p:pic>
      <p:pic>
        <p:nvPicPr>
          <p:cNvPr id="3" name="Image 1" descr="/Users/ilkerkadirozturk/Documents/genomer_brochures/sunum/slides/icon-d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99" y="1746275"/>
            <a:ext cx="1650950" cy="1650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1778347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Mikrobiyom Test Hattı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09600" y="2289423"/>
            <a:ext cx="80832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Ürün Portföyü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09600" y="2705249"/>
            <a:ext cx="518154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Jinekolojik, pediatrik ve ürolojik uygulamalarda kantitatif mikrobiyota değerlendirmesi için Real-Time PCR tabanlı kapsamlı moleküler tanı çözümleri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0" y="4584799"/>
            <a:ext cx="9144000" cy="558701"/>
          </a:xfrm>
          <a:prstGeom prst="rect">
            <a:avLst/>
          </a:prstGeom>
          <a:solidFill>
            <a:srgbClr val="0F4C7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09600" y="4807000"/>
            <a:ext cx="11916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Sağlık Profesyonelleri İçin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586365" y="4807000"/>
            <a:ext cx="9669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www.genomer.com.tr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B26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96751"/>
            <a:ext cx="15673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 Portföyü</a:t>
            </a:r>
            <a:endParaRPr lang="en-US" sz="18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259" y="1905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838051"/>
            <a:ext cx="2692450" cy="3997672"/>
          </a:xfrm>
          <a:prstGeom prst="roundRect">
            <a:avLst>
              <a:gd name="adj" fmla="val 2830"/>
            </a:avLst>
          </a:prstGeom>
          <a:solidFill>
            <a:srgbClr val="F5EB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79363" y="838051"/>
            <a:ext cx="0" cy="3997672"/>
          </a:xfrm>
          <a:prstGeom prst="line">
            <a:avLst/>
          </a:prstGeom>
          <a:noFill/>
          <a:ln w="47625">
            <a:solidFill>
              <a:srgbClr val="7B4B9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4"/>
          <p:cNvSpPr/>
          <p:nvPr/>
        </p:nvSpPr>
        <p:spPr>
          <a:xfrm>
            <a:off x="580876" y="1015752"/>
            <a:ext cx="23352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HATTI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0876" y="1266527"/>
            <a:ext cx="233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5C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Kadın Ürogenital Mikrobiyotası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3276" y="1507778"/>
            <a:ext cx="2137023" cy="1323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test varyantı: FEMOBIOME II (16 tüp), PrimaScreen (8 tüp), SecundaScreen (8 tüp)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Normobiyota, anaeroblar, aeroblar, mikoplazmalar, CYBH, HPV, herpesviruslar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Vajinal ve servikal numune alımı, hastanın kendi aldığı numuneler dahil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trafik ışığı raporlama sistemi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25701" y="838051"/>
            <a:ext cx="2692598" cy="3997672"/>
          </a:xfrm>
          <a:prstGeom prst="roundRect">
            <a:avLst>
              <a:gd name="adj" fmla="val 283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249513" y="838051"/>
            <a:ext cx="0" cy="3997672"/>
          </a:xfrm>
          <a:prstGeom prst="line">
            <a:avLst/>
          </a:prstGeom>
          <a:noFill/>
          <a:ln w="476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/>
          <p:nvPr/>
        </p:nvSpPr>
        <p:spPr>
          <a:xfrm>
            <a:off x="3451027" y="1015752"/>
            <a:ext cx="2335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51027" y="1266527"/>
            <a:ext cx="23353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Çocuk Bağırsak Mikrobiyotası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603427" y="1507778"/>
            <a:ext cx="2137172" cy="115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Çocuk dışkısındaki prokaryotik kütlenin %99,9'unu kapsar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bakteri filumu + Euryarchaeota + Candida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Patojenite belirteçleri: mecA, srr2, tcdA, tcdB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Çeşitlilik tahmini ile normosenoz/disbiyoz durumu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96000" y="838051"/>
            <a:ext cx="2692450" cy="3997672"/>
          </a:xfrm>
          <a:prstGeom prst="roundRect">
            <a:avLst>
              <a:gd name="adj" fmla="val 283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119813" y="838051"/>
            <a:ext cx="0" cy="3997672"/>
          </a:xfrm>
          <a:prstGeom prst="line">
            <a:avLst/>
          </a:prstGeom>
          <a:noFill/>
          <a:ln w="476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4"/>
          <p:cNvSpPr/>
          <p:nvPr/>
        </p:nvSpPr>
        <p:spPr>
          <a:xfrm>
            <a:off x="6321326" y="1015752"/>
            <a:ext cx="23352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21326" y="1266527"/>
            <a:ext cx="233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Erkek Ürogenital Mikrobiyotası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73726" y="1507778"/>
            <a:ext cx="2137023" cy="115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varyant: Androbiome (tam) ve Androbiome Screen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Dünyada eşdeğeri bulunmayan test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mikrobiyota, fırsatçı mikrobiyota ve CYBH tespiti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farklı biyomateryal türü desteklenir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4840486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8"/>
          <p:cNvSpPr/>
          <p:nvPr/>
        </p:nvSpPr>
        <p:spPr>
          <a:xfrm>
            <a:off x="355550" y="4946749"/>
            <a:ext cx="8601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testler kantitatif sonuçlarla Real-Time PCR teknolojisi kullanır | Numune alımından rapor yorumlamaya kadar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95263"/>
            <a:ext cx="553495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HATTI — Kadın Mikrobiyota Değerlendirmesi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259" y="16505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736550"/>
            <a:ext cx="8432899" cy="599182"/>
          </a:xfrm>
          <a:prstGeom prst="roundRect">
            <a:avLst>
              <a:gd name="adj" fmla="val 8478"/>
            </a:avLst>
          </a:prstGeom>
          <a:solidFill>
            <a:srgbClr val="F5EB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4150" y="863501"/>
            <a:ext cx="813521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850" b="1" dirty="0">
                <a:solidFill>
                  <a:srgbClr val="5C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PCR ile kadın ürogenital mikrobiyotasının kapsamlı profillemesi için genişletilmiş test hattı. Optimize edilmiş patojen panelleri, gebelik için kantitatif GBS değerlendirmesi ve HPV ile herpesvirusları kapsayan viral tespit özellikleri içerir.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55550" y="1462683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II'deki Yenilikler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7950" y="1681758"/>
            <a:ext cx="3937099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Genişletilmiş ve optimize edilmiş mikroorganizma tespit paneli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Yaş gruplarına göre daha bilgilendirici normobiyota değerlendirmesi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Gebelik planlaması için kantitatif Grup B Streptococcus değerlendirmesi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Asemptomatik enfeksiyonlar için zorunlu patojen kontrolü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tespiti: tip 16, 18, 45 + 11 ek yüksek riskli tip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Herpesvirus tespiti: HSV-1, HSV-2, CMV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98950" y="1462683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Test Varyantı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98950" y="1681758"/>
            <a:ext cx="4089499" cy="511076"/>
          </a:xfrm>
          <a:prstGeom prst="roundRect">
            <a:avLst>
              <a:gd name="adj" fmla="val 9940"/>
            </a:avLst>
          </a:prstGeom>
          <a:solidFill>
            <a:srgbClr val="FAF5FC"/>
          </a:solidFill>
          <a:ln w="9525">
            <a:solidFill>
              <a:srgbClr val="E8D5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35426" y="1780133"/>
            <a:ext cx="3892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35426" y="1951583"/>
            <a:ext cx="38928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Evrensel test — 16 tüp. Tam mikrobiyota profillemesi için en kapsamlı seçenek.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698950" y="2269034"/>
            <a:ext cx="4089499" cy="511076"/>
          </a:xfrm>
          <a:prstGeom prst="roundRect">
            <a:avLst>
              <a:gd name="adj" fmla="val 9940"/>
            </a:avLst>
          </a:prstGeom>
          <a:solidFill>
            <a:srgbClr val="FAF5FC"/>
          </a:solidFill>
          <a:ln w="9525">
            <a:solidFill>
              <a:srgbClr val="E8D5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35426" y="2367409"/>
            <a:ext cx="3892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PrimaScreen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35426" y="2538859"/>
            <a:ext cx="38928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Kısaltılmış versiyon — 8 tüp. Bakteriyel vajinoz tanısına odaklı.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698950" y="2856309"/>
            <a:ext cx="4089499" cy="511076"/>
          </a:xfrm>
          <a:prstGeom prst="roundRect">
            <a:avLst>
              <a:gd name="adj" fmla="val 9940"/>
            </a:avLst>
          </a:prstGeom>
          <a:solidFill>
            <a:srgbClr val="FAF5FC"/>
          </a:solidFill>
          <a:ln w="9525">
            <a:solidFill>
              <a:srgbClr val="E8D5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35426" y="2954685"/>
            <a:ext cx="3892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SecundaScreen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35426" y="3126135"/>
            <a:ext cx="38928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Kompleks test — 8 tüp. Enfeksiyon ve enflamatuar ürogenital hastalık tanısı.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95263"/>
            <a:ext cx="42940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— Tespit Paneli Karşılaştırması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259" y="16505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736550"/>
            <a:ext cx="35399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test varyantının tespit ettiği mikroorganizmaların kapsamlı karşılaştırması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5550" y="4946749"/>
            <a:ext cx="8601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II, tüm kategorilerde klinik açıdan en kapsamlı profillemeyi sunar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977801"/>
          <a:ext cx="6583680" cy="247802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Kategori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Organizma / Belirteç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FB II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Prima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Secunda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Kontrol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Human DNA / Toplam bakteri yükü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Normobiyota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Lactobacillus spp., L. crispatus, L. jensenii, L. gasseri, L. iners, Bifidobacterium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F59E0B"/>
                          </a:solidFill>
                        </a:rPr>
                        <a:t>Kısmi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F59E0B"/>
                          </a:solidFill>
                        </a:rPr>
                        <a:t>Kısmi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Aeroblar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Staphylococcus, Streptococcus, S. agalactiae, Enterobacteriaceae, Enterococcus, Haemophilus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Anaeroblar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Gardnerella, Fannyhessea, Mobiluncus, Anaerococcus, Peptostreptococcus, Bacteroides/Prevotella, Sneathia, Megasphaera, BVAB1-3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F59E0B"/>
                          </a:solidFill>
                        </a:rPr>
                        <a:t>Temel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Mikoplazmalar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U. urealyticum, U. parvum, M. hominis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Maya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Candida spp., Candida albicans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CYBH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C. trachomatis, M. genitalium, N. gonorrhoeae, T. vaginalis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Herpes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HSV-1, HSV-2, CMV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HPV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HPV 16, 18, 45 + 11 yüksek riskli tip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95263"/>
            <a:ext cx="51970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— Klinik Endikasyonlar ve Numune Alımı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259" y="16505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762000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Endikasyonlar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55550" y="1006376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Enfeksiyon Hastalıkları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55550" y="1145977"/>
            <a:ext cx="4171289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Enflamatuar semptomlar → FEMOBIOME II; BV semptomları → FEMOBIOME II veya SecundaScreen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55550" y="1572518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Asemptomatik Olgular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55550" y="1712119"/>
            <a:ext cx="417128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Pelvik cerrahi hazırlığı; Koruyucu tarama → FEMOBIOME II veya PrimaScreen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5550" y="1976140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Tedavi İzleme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55550" y="2115741"/>
            <a:ext cx="417128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Enfeksiyon hastalıkları ve BV tedavisi sonrası değerlendirme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55550" y="2379762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Obstetrik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5550" y="2519363"/>
            <a:ext cx="4171289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Gebelik planlaması ve ÜYT; Gebelik sırasında profilaktik muayeneler; İnfertilite ve düşük araştırması → FEMOBIOME II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98950" y="762000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Biyomateryal ve Hazırlık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98950" y="1006376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Numune Türleri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851350" y="1171426"/>
            <a:ext cx="3937099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Vajinal sürüntü (uzman tarafından veya hastanın kendi aldığı)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Taşıma besiyerinde servikal sürüntü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Sıvı bazlı sitoloji ortamlarıyla uyumlu (PreservCyt, BD SurePath, EASYPREP, CellPrep)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98950" y="2006701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Hazırlığı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851350" y="2171751"/>
            <a:ext cx="3937099" cy="96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saat: Duş alma, tampon, antiseptik, transvajinal ultrason yapılmamalı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saat: Kolposkopi yapılmamalı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saat: Korunmasız cinsel temas olmamalı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Antibiyotik/probiyotik tedavisinden 2 hafta sonra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CYBH tedavisinden 4 hafta sonra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95263"/>
            <a:ext cx="33182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— Rapor Yorumlama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259" y="16505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762000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Trafik Işığı Gösterge Sistemi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55550" y="3266777"/>
            <a:ext cx="41712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800"/>
              </a:spcBef>
              <a:buNone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Mikoplazmalar: U. urealyticum, U. parvum, M. hominis. Candida: C. spp., C. albicans. Eşik değerler: ≥10⁴ GE/ml.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698950" y="762000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 Bileşenleri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51350" y="1006376"/>
            <a:ext cx="3937099" cy="115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Gösterge simgesi — mikrobiyota durumu ve patojen varlığını birleştiren görsel özet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Doğrusal histogram — normobiyota, anaeroblar, aeroblar ve mikoplazmaların renk kodlu miktar düzeyleriyle oranları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Sütunsal histogram — her gruptaki koşullu patojen mikroorganizmaların ayrıntılı dağılımı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hasta için kişiselleştirilmiş yorumlar ve infografikler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98950" y="2457450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 Kategorileri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698950" y="267325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76651" y="2647950"/>
            <a:ext cx="32581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Öbiyoz — patojen yok, anlamlı düzeyde virüs/mikoplazma/Candida yok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98950" y="288905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76651" y="2863751"/>
            <a:ext cx="3580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Uyarı — orta düzeyde disbiyoz veya yüksek virüs/mikoplazma/Candida düzeyi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98950" y="310485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76651" y="3079551"/>
            <a:ext cx="2544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— ağır disbiyoz veya zorunlu patojen tespit edildi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50" y="1006376"/>
          <a:ext cx="4114800" cy="14630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Durum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4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Patojen</a:t>
                      </a:r>
                      <a:endParaRPr lang="en-US" sz="650" dirty="0"/>
                    </a:p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Saptandı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4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Patojen Yok</a:t>
                      </a:r>
                      <a:endParaRPr lang="en-US" sz="650" dirty="0"/>
                    </a:p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Virüs/Miko/Candida</a:t>
                      </a:r>
                      <a:endParaRPr lang="en-US" sz="650" dirty="0"/>
                    </a:p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≥10⁴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4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Patojen Yok</a:t>
                      </a:r>
                      <a:endParaRPr lang="en-US" sz="650" dirty="0"/>
                    </a:p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Önemli Bulgu</a:t>
                      </a:r>
                      <a:endParaRPr lang="en-US" sz="650" dirty="0"/>
                    </a:p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Yok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4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5C3470"/>
                          </a:solidFill>
                        </a:rPr>
                        <a:t>Öbiyoz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91B1B"/>
                          </a:solidFill>
                        </a:rPr>
                        <a:t>KIRMIZI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2400E"/>
                          </a:solidFill>
                        </a:rPr>
                        <a:t>SARI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065F46"/>
                          </a:solidFill>
                        </a:rPr>
                        <a:t>YEŞİL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5C3470"/>
                          </a:solidFill>
                        </a:rPr>
                        <a:t>Orta Düzey</a:t>
                      </a:r>
                      <a:endParaRPr lang="en-US" sz="650" dirty="0"/>
                    </a:p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5C3470"/>
                          </a:solidFill>
                        </a:rPr>
                        <a:t>Disbiyoz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91B1B"/>
                          </a:solidFill>
                        </a:rPr>
                        <a:t>KIRMIZI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2400E"/>
                          </a:solidFill>
                        </a:rPr>
                        <a:t>SARI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2400E"/>
                          </a:solidFill>
                        </a:rPr>
                        <a:t>SARI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5C3470"/>
                          </a:solidFill>
                        </a:rPr>
                        <a:t>Ağır</a:t>
                      </a:r>
                      <a:endParaRPr lang="en-US" sz="650" dirty="0"/>
                    </a:p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5C3470"/>
                          </a:solidFill>
                        </a:rPr>
                        <a:t>Disbiyoz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91B1B"/>
                          </a:solidFill>
                        </a:rPr>
                        <a:t>KIRMIZI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91B1B"/>
                          </a:solidFill>
                        </a:rPr>
                        <a:t>KIRMIZI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91B1B"/>
                          </a:solidFill>
                        </a:rPr>
                        <a:t>KIRMIZI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28395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— Örnek Rapor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24589" y="736550"/>
            <a:ext cx="13651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Öbiyoz vakası — vajinal sürüntü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55550" y="736550"/>
            <a:ext cx="3600152" cy="504527"/>
          </a:xfrm>
          <a:prstGeom prst="roundRect">
            <a:avLst>
              <a:gd name="adj" fmla="val 10069"/>
            </a:avLst>
          </a:prstGeom>
          <a:solidFill>
            <a:srgbClr val="D1FAE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6576" y="847576"/>
            <a:ext cx="34456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Öbiyoz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6576" y="1034802"/>
            <a:ext cx="3445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mikrobiyota hakimiyeti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55550" y="1291828"/>
            <a:ext cx="3600152" cy="900857"/>
          </a:xfrm>
          <a:prstGeom prst="rect">
            <a:avLst/>
          </a:prstGeom>
          <a:solidFill>
            <a:srgbClr val="F5EB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74600" y="1291828"/>
            <a:ext cx="0" cy="900857"/>
          </a:xfrm>
          <a:prstGeom prst="line">
            <a:avLst/>
          </a:prstGeom>
          <a:noFill/>
          <a:ln w="38100">
            <a:solidFill>
              <a:srgbClr val="7B4B9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8"/>
          <p:cNvSpPr/>
          <p:nvPr/>
        </p:nvSpPr>
        <p:spPr>
          <a:xfrm>
            <a:off x="495151" y="1393329"/>
            <a:ext cx="34262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5C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5151" y="1558379"/>
            <a:ext cx="342623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Mikrobiyota durumu — öbiyoz:</a:t>
            </a: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normobiyota hakimiyeti, Lactobacillus spp. göreceli oranı %99,8 (L. crispatus, L. iners, L. jensenii).</a:t>
            </a:r>
            <a:endParaRPr lang="en-US" sz="700" dirty="0"/>
          </a:p>
          <a:p>
            <a:pPr marL="0" indent="0" algn="l">
              <a:lnSpc>
                <a:spcPts val="1050"/>
              </a:lnSpc>
              <a:buNone/>
            </a:pPr>
            <a:endParaRPr lang="en-US" sz="7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Patojen saptanmadı.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55550" y="2243435"/>
            <a:ext cx="3600152" cy="659457"/>
          </a:xfrm>
          <a:prstGeom prst="roundRect">
            <a:avLst>
              <a:gd name="adj" fmla="val 77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6576" y="2354461"/>
            <a:ext cx="34456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5C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Biyomateryal Kontrol Parametreleri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6576" y="2509986"/>
            <a:ext cx="3445663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genomik DNA:</a:t>
            </a: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4,9 lg GE/ml (Ref: ≥3,5)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66576" y="2650927"/>
            <a:ext cx="3445663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bakteriyel yük:</a:t>
            </a: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6,2 lg GE/ml (Ref: ≥4,0)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55550" y="2953643"/>
            <a:ext cx="3600152" cy="1647527"/>
          </a:xfrm>
          <a:prstGeom prst="roundRect">
            <a:avLst>
              <a:gd name="adj" fmla="val 308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66576" y="3026569"/>
            <a:ext cx="3445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Patojenler — Tümü Saptanmadı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66576" y="3159919"/>
            <a:ext cx="34456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5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CINSEL YOLLA BULAŞAN ENFEKSIYONLAR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517327" y="3258294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Chlamydia trachomatis</a:t>
            </a: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saptanmadı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517327" y="3348930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Mycoplasma genitalium</a:t>
            </a: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saptanmadı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517327" y="3439567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Neisseria gonorrhoeae</a:t>
            </a: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saptanmadı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17327" y="3530203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Trichomonas vaginalis</a:t>
            </a: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saptanmadı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466576" y="3658939"/>
            <a:ext cx="34456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5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HERPESVIRÜSLER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517327" y="3757315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HSV-1 — saptanmadı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517327" y="3847951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HSV-2 — saptanmadı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517327" y="3938588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CMV — saptanmadı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466576" y="4067324"/>
            <a:ext cx="34456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5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PAPILLOMAVIRÜSLERI (HPV)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517327" y="4165699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16 — saptanmadı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517327" y="4256336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18 — saptanmadı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517327" y="4346972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45 — saptanmadı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517327" y="4437608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31/33/35/39/51/52/56/58/59/66/68 — saptanmadı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4108103" y="736550"/>
            <a:ext cx="47739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5C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Mikrobiyota Bileşimi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108103" y="952351"/>
            <a:ext cx="4680347" cy="203150"/>
          </a:xfrm>
          <a:prstGeom prst="roundRect">
            <a:avLst>
              <a:gd name="adj" fmla="val 18755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061299" y="952351"/>
            <a:ext cx="4773954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Normobiyota %99,8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108103" y="1231553"/>
            <a:ext cx="47739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Eşik: ≥%80 normobiyota = öbiyoz</a:t>
            </a:r>
            <a:endParaRPr lang="en-US" sz="5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08103" y="1368028"/>
          <a:ext cx="4680347" cy="3250692"/>
        </p:xfrm>
        <a:graphic>
          <a:graphicData uri="http://schemas.openxmlformats.org/drawingml/2006/table">
            <a:tbl>
              <a:tblPr/>
              <a:tblGrid>
                <a:gridCol w="2574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</a:rPr>
                        <a:t>Mikroorganizma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</a:rPr>
                        <a:t>lg GE/ml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b="1" dirty="0">
                          <a:solidFill>
                            <a:srgbClr val="5C3470"/>
                          </a:solidFill>
                        </a:rPr>
                        <a:t>NORMOBİYOTA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Lactobacillus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6,2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%99,8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Bifidobacterium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1,7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&lt;%1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b="1" dirty="0">
                          <a:solidFill>
                            <a:srgbClr val="5C3470"/>
                          </a:solidFill>
                        </a:rPr>
                        <a:t>AEROBLAR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Staphylococcus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Streptococcus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Enterobacteriaceae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Enterococcus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2,4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&lt;%1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Haemophilus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0584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b="1" dirty="0">
                          <a:solidFill>
                            <a:srgbClr val="5C3470"/>
                          </a:solidFill>
                        </a:rPr>
                        <a:t>ANAEROBLAR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Gardnerella vaginalis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Fannyhessea vaginae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Mobiluncus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Anaerococcus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2,9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&lt;%1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Peptostreptococcus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2,6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&lt;%1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Bacteroides / Prevotella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3,3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&lt;%1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Sneathia / Leptotrichia / Fusobacterium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Megasphaera / Veillonella / Dialister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2,4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&lt;%1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BVAB1 / BVAB2 / BVAB3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00584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b="1" dirty="0">
                          <a:solidFill>
                            <a:srgbClr val="5C3470"/>
                          </a:solidFill>
                        </a:rPr>
                        <a:t>MİKOPLAZMALAR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Ureaplasma urealyticum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Ureaplasma parvum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&lt;4,0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&lt;%1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Mycoplasma hominis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00584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b="1" dirty="0">
                          <a:solidFill>
                            <a:srgbClr val="5C3470"/>
                          </a:solidFill>
                        </a:rPr>
                        <a:t>MAYA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Candida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Candida albicans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3932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— Teknik Özellikler</a:t>
            </a:r>
            <a:endParaRPr lang="en-US" sz="16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762000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Özellikleri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1000" y="1006376"/>
            <a:ext cx="4038600" cy="130016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 süresi: 2,5 saatten itibaren (numune ön işlemi dahil)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formatları: Otomatik (384 kuyucuklu) ve manuel (96 kuyucuklu)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S: 12 test (PrimaScreen/SecundaScreen için 24)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A / A-TL: 24 test (PrimaScreen/SecundaScreen için 48)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Saklama: +2 ile +8°C arası (S, A, A-TL paketleri)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Saklama: -18 ile -22°C arası (TechnoTaq MAX polimeraz)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 ömrü: 12 ay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Taşıma besiyeri: STOR-F, STOR-M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724400" y="762000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Uyumlu Platformlar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24400" y="1031825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Ekstraksiyon Platformları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24400" y="1196876"/>
            <a:ext cx="4038600" cy="32504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Allsheng Auto-Pure 96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KingFisher Flex (PREP-MB-RAPID II)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24400" y="1648867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Sıvı Sitoloji Besiyerleri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24400" y="1813917"/>
            <a:ext cx="4038600" cy="8126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PreservCyt (Hologic Inc., ABD)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SurePath (Becton, Dickinson, ABD)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EASYPREP (YD Diagnostics, Güney Kore)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CellPrep (CP Biodyne, Güney Kore)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Preservative Solution (Human Lituo, Çin)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24400" y="2753469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Numune Ön İşlemi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24400" y="2918520"/>
            <a:ext cx="4038600" cy="16252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SurePath ve CellPrep besiyerlerindeki sürüntüler için PREP-PK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50423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 — Çocuk Bağırsak Mikrobiyotası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762000"/>
            <a:ext cx="8382000" cy="577453"/>
          </a:xfrm>
          <a:prstGeom prst="roundRect">
            <a:avLst>
              <a:gd name="adj" fmla="val 8797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07950" y="888950"/>
            <a:ext cx="8290661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Çocuk dışkısındaki bağırsak mikrobiyotası bileşiminin gerçek zamanlı PCR ile kantitatif analizi için reaktif kiti. Toplam prokaryotik kütlenin %99,9'unu kapsayan mikrobiyal taksonları tespit eder.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81000" y="1491853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Tespit Kapsamı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1000" y="1736229"/>
            <a:ext cx="4038600" cy="130016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Actinomycetota: Bifidobacterium spp. (çocuk ve erişkin türleri), Coriobacteriia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Bacillota: Cl. leptum gr., F. prausnitzii, Lachnospiraceae, Lactobacillaceae, Streptococcus spp.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Bacteroidota: Bacteroides, Prevotella, Parabacteroides, Alistipes, Butyricimonas spp.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Verrucomicrobiota: Akkermansia muciniphila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Pseudomonadota: Enterobacterales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Euryarchaeota: Methanobacteriaceae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 spp. (maya mantarları)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724400" y="1491853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Özellikler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24400" y="1736229"/>
            <a:ext cx="4038600" cy="113764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Normosenos/disbiyoz durumu belirleme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mikrobiyota çeşitlilik tahmini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Bifidobakteri tür düzeyinde tanımlama (B. bifidum, B. longum, B. infantis, B. breve, B. adolescentis)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Bacillota/Bacteroidota oranı hesaplama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Patojenite ve direnç belirteçleri: mecA (metisilin direnci), srr2 (S. agalactiae invazivliği), tcdA/tcdB (C. difficile toksinleri)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724400" y="3000821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Özellikleri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24400" y="3165872"/>
            <a:ext cx="4038600" cy="65008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Dahili kontrollü multipleks format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RealTime_PCR yazılımı ile otomatik sonuç üretimi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Başlıca PCR cihazları için hazır şablonlar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Biyomateryal: mekonyum dahil dışkı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416764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 — Mikrobiyom Gelişimi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76200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Çocuklarda Bağırsak Mikrobiyotası Oluşumunun Dört Evresi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1000" y="1006376"/>
            <a:ext cx="2019300" cy="654695"/>
          </a:xfrm>
          <a:prstGeom prst="roundRect">
            <a:avLst>
              <a:gd name="adj" fmla="val 7759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81000" y="1025426"/>
            <a:ext cx="20193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5"/>
          <p:cNvSpPr/>
          <p:nvPr/>
        </p:nvSpPr>
        <p:spPr>
          <a:xfrm>
            <a:off x="482501" y="1145977"/>
            <a:ext cx="1852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Evre 1: Doğum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2501" y="1311027"/>
            <a:ext cx="185262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Streptococcus spp., Enterobacterales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501801" y="1006376"/>
            <a:ext cx="2019449" cy="654695"/>
          </a:xfrm>
          <a:prstGeom prst="roundRect">
            <a:avLst>
              <a:gd name="adj" fmla="val 7759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501801" y="1025426"/>
            <a:ext cx="2019449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/>
          <p:nvPr/>
        </p:nvSpPr>
        <p:spPr>
          <a:xfrm>
            <a:off x="2603302" y="1145977"/>
            <a:ext cx="18527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Evre 2: 14. Gün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603302" y="1311027"/>
            <a:ext cx="185277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Bifidobacterium, Lactobacillaceae, Clostridium, Bacteroidota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622750" y="1006376"/>
            <a:ext cx="2019300" cy="654695"/>
          </a:xfrm>
          <a:prstGeom prst="roundRect">
            <a:avLst>
              <a:gd name="adj" fmla="val 7759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622750" y="1025426"/>
            <a:ext cx="20193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/>
          <p:nvPr/>
        </p:nvSpPr>
        <p:spPr>
          <a:xfrm>
            <a:off x="4724251" y="1145977"/>
            <a:ext cx="1852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Evre 3: Tamamlayıcı Gıdalar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24251" y="1311027"/>
            <a:ext cx="185262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Bacteroidota, Bacillota, Verrucomicrobiota, Actinomycetota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743551" y="1006376"/>
            <a:ext cx="2019449" cy="654695"/>
          </a:xfrm>
          <a:prstGeom prst="roundRect">
            <a:avLst>
              <a:gd name="adj" fmla="val 775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6743551" y="1025426"/>
            <a:ext cx="2019449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/>
          <p:nvPr/>
        </p:nvSpPr>
        <p:spPr>
          <a:xfrm>
            <a:off x="6845052" y="1145977"/>
            <a:ext cx="18527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Evre 4: Sütten Kesme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845052" y="1311027"/>
            <a:ext cx="185277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Stabilizasyon — erişkin benzeri kompozisyon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81000" y="181347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Mikrobiyota Oluşumunu Etkileyen Faktörler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1000" y="2057846"/>
            <a:ext cx="8382000" cy="65008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Doğum şekli: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Doğal doğum → stabil kompozisyon; Sezaryen → gecikmiş kolonizasyon, daha fazla C. difficile, Enterococcus, Klebsiella, Veillonella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Beslenme türü: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Anne sütüyle beslenen → Bifidobacterium baskın (B. breve, B. bifidum, B. longum); Formüla ile beslenen → Bacteroides ve Clostridium baskın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Gestasyonel yaş: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Prematüre → gecikmiş anaerobik kolonizasyon, daha yüksek Enterobacteriaceae ve fırsatçı mikroorganizma oranı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Antibiyotik kullanımı: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Çeşitliliği azaltır, ilaca dirençli Enterobacteriaceae ve Clostridium artışına, Bifidobacteriaceae azalmasına yol açar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81000" y="2809429"/>
            <a:ext cx="8382000" cy="345281"/>
          </a:xfrm>
          <a:prstGeom prst="rect">
            <a:avLst/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00050" y="2809429"/>
            <a:ext cx="0" cy="34528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3"/>
          <p:cNvSpPr/>
          <p:nvPr/>
        </p:nvSpPr>
        <p:spPr>
          <a:xfrm>
            <a:off x="520601" y="2910929"/>
            <a:ext cx="83037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 çeşitliliği yüksek bir bağırsak ekosistemi olumsuz streslere karşı daha dirençlidir. Azalmış çeşitlilik hastalıklarla ilişkilidir.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42142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 — Ayrıntılı Tespit Paneli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762000"/>
            <a:ext cx="2711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Mikrobiyota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81000" y="996851"/>
            <a:ext cx="27116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Actinomycetota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81000" y="1149251"/>
            <a:ext cx="2658517" cy="73818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Bifidobacterium spp. (çocuk türleri: B. bifidum, B. longum, B. infantis, B. breve)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Bifidobacterium spp. (erişkin türleri: B. adolescentis, B. catenulatum, B. animalis)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Coriobacteriia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81000" y="1988939"/>
            <a:ext cx="27116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Bacillota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1000" y="2141339"/>
            <a:ext cx="2658517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Cl. leptum gr. (küme IV)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prausnitzii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Lachnospiraceae (küme XIVa)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Lactobacillaceae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Lactococcus lactis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Streptococcus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Veillonellaceae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Erysipelotrichaceae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242667" y="1015901"/>
            <a:ext cx="2711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Bacteroidota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42667" y="1168301"/>
            <a:ext cx="2658666" cy="73818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Bacteroides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Prevotella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Parabacteroides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Alistipes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Butyricimonas spp.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242667" y="2007989"/>
            <a:ext cx="2711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Diğer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42667" y="2160389"/>
            <a:ext cx="2658666" cy="590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Akkermansia muciniphila (Verrucomicrobiota)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Blautia spp. (asetojenler)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Desulfovibrio spp. (sülfat indirgeyen)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Methanobacteriaceae (metanojenler)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104483" y="762000"/>
            <a:ext cx="2711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Fırsatçı Mikroorganizmalar ve Belirteçler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04483" y="996851"/>
            <a:ext cx="27116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Patobiyontlar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04483" y="1149251"/>
            <a:ext cx="2658517" cy="88582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difficile (tcdA, tcdB belirteçleri)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perfringens gr.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Enterobacterales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Enterococcus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aureus (mecA belirteci)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agalactiae (srr2 belirteci)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104483" y="2136577"/>
            <a:ext cx="27116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Mantarlar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04483" y="2288977"/>
            <a:ext cx="2658517" cy="2952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 albicans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45492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 — Klinik Önemi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762000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Klinik Belirteçler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1000" y="1006376"/>
            <a:ext cx="4038600" cy="146268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Bacillota/Bacteroidota oranı: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Bacteroidota yönünde kayma inflamatuvar sürecin göstergesi olabilir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prausnitzii: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Anti-inflamatuvar biyobelirteç. IL-10/IL-12 salgılanmasını artırır, IL-8'i inhibe eder. İnflamatuvar bağırsak hastalığında azalır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Akkermansia muciniphila: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Başlıca müsin metabolize edicisi. Bariyer fonksiyonunu güçlendirir. Bütirat üretimi için propiyonat ve asetat üretir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Bifidobacterium türleri: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Çocuk türleri (B. bifidum, B. longum, B. infantis, B. breve) anne sütü oligosakkaritlerini fermente eder, T-düzenleyici hücreleri aktive eder. Erişkin türleri bitkisel polisakkaritleri fermente eder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724400" y="762000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Hastalık İlişkileri ve Belirteçler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24400" y="1031825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Patojenite Belirteçleri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24400" y="1196876"/>
            <a:ext cx="4038600" cy="8126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Staphylococcus'ta metisilin direnci; metisiline dirençli suşlar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srr2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S. agalactiae invazivliği; kan dolaşımı ve merkezi sinir sistemi invazyonunu kolaylaştırarak menenjite neden olur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tcdA / tcdB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C. difficile enterotoksinleri A ve B; akut inflamasyona, bağırsak bariyerinde hasara ve sıvı akışına yol açar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24400" y="2136428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Hastalık İlişkileri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24400" y="2301478"/>
            <a:ext cx="4038600" cy="8126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İBH (ÜK, Crohn): ↑ Bacteroides/Prevotella, ↓ F. prausnitzii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Çölyak hastalığı: ↓ Lactobacillus/Bifidobacteria, ↑ pro-inflamatuvar Veillonellaceae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Nekrotizan enterokolit (prematüre): C. perfringens ve Enterobacterales ile ilişkili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difficile taşıyıcılığı: 1 yaş altı çocuklarda %61'e kadar; normalde ~2 yaşında elimine edilir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46570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 — Rapor Çıktısı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711101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 Formu Bileşenleri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55550" y="933152"/>
            <a:ext cx="4140250" cy="755303"/>
          </a:xfrm>
          <a:prstGeom prst="rect">
            <a:avLst/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65075" y="933152"/>
            <a:ext cx="0" cy="755303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5"/>
          <p:cNvSpPr/>
          <p:nvPr/>
        </p:nvSpPr>
        <p:spPr>
          <a:xfrm>
            <a:off x="476101" y="1022003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Normosenoz / Disbiyoz Durumu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76101" y="1164878"/>
            <a:ext cx="39965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TBK içindeki normobiyota ile fırsatçı mikrobiyotanın göreceli bolluklarına göre belirlenir. Sınıflandırma klinik karar vermeyi yönlendirir.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76101" y="1463278"/>
            <a:ext cx="664518" cy="136327"/>
          </a:xfrm>
          <a:prstGeom prst="roundRect">
            <a:avLst>
              <a:gd name="adj" fmla="val 7452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7602" y="1488579"/>
            <a:ext cx="4707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Normosenoz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216819" y="1463278"/>
            <a:ext cx="694283" cy="136327"/>
          </a:xfrm>
          <a:prstGeom prst="roundRect">
            <a:avLst>
              <a:gd name="adj" fmla="val 7452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318320" y="1488579"/>
            <a:ext cx="5011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 Disbiyoz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1987302" y="1463278"/>
            <a:ext cx="689967" cy="136327"/>
          </a:xfrm>
          <a:prstGeom prst="roundRect">
            <a:avLst>
              <a:gd name="adj" fmla="val 74527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88803" y="1488579"/>
            <a:ext cx="4967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Ağır Disbiyoz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55550" y="1751856"/>
            <a:ext cx="4140250" cy="568226"/>
          </a:xfrm>
          <a:prstGeom prst="rect">
            <a:avLst/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365075" y="1751856"/>
            <a:ext cx="0" cy="568226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/>
          <p:nvPr/>
        </p:nvSpPr>
        <p:spPr>
          <a:xfrm>
            <a:off x="476101" y="1840706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Çeşitlilik Tahmini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6101" y="1983581"/>
            <a:ext cx="39965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bakteri filumu üzerinden normal mikrobiyota çeşitliliği: Actinomycetota, Bacillota, Bacteroidota, Pseudomonadota, Fusobacteriota, Verrucomicrobiota. Düşük çeşitlilik hastalık riski ile koreledir.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55550" y="2383482"/>
            <a:ext cx="4140250" cy="568226"/>
          </a:xfrm>
          <a:prstGeom prst="rect">
            <a:avLst/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365075" y="2383482"/>
            <a:ext cx="0" cy="568226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/>
          <p:nvPr/>
        </p:nvSpPr>
        <p:spPr>
          <a:xfrm>
            <a:off x="476101" y="2472333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Bacillota / Bacteroidota Oranı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76101" y="2615208"/>
            <a:ext cx="39965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Bağırsak dengesi göstergesi. Bacteroidota yönünde kayış inflamatuar süreci işaret edebilir. Metabolik bozukluklar, obezite ve IBH ile ilişkilidir.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355550" y="3015109"/>
            <a:ext cx="4140250" cy="568226"/>
          </a:xfrm>
          <a:prstGeom prst="rect">
            <a:avLst/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365075" y="3015109"/>
            <a:ext cx="0" cy="568226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3"/>
          <p:cNvSpPr/>
          <p:nvPr/>
        </p:nvSpPr>
        <p:spPr>
          <a:xfrm>
            <a:off x="476101" y="3103959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Kantitatif Değerlendirme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6101" y="3246834"/>
            <a:ext cx="39965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Bifidobakteri/laktobasil sayıları, tür düzeyinde tanımlama. Fırsatçı mikrobiyota ve </a:t>
            </a:r>
            <a:r>
              <a:rPr lang="en-US" sz="65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</a:t>
            </a: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miktar tayini. Anti-inflamatuar biyobelirteçler: </a:t>
            </a:r>
            <a:r>
              <a:rPr lang="en-US" sz="65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prausnitzii</a:t>
            </a: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</a:t>
            </a:r>
            <a:r>
              <a:rPr lang="en-US" sz="65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Akkermansia muciniphila</a:t>
            </a: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55550" y="3646736"/>
            <a:ext cx="4140250" cy="539651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365075" y="3646736"/>
            <a:ext cx="0" cy="539651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7"/>
          <p:cNvSpPr/>
          <p:nvPr/>
        </p:nvSpPr>
        <p:spPr>
          <a:xfrm>
            <a:off x="476101" y="3735586"/>
            <a:ext cx="39965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İlişkiler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76101" y="3868936"/>
            <a:ext cx="3996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IBH: ↑ Bacteroides/Prevotella, ↓ F. prausnitzii. Çölyak: ↓ Lactobacillus/Bifidobacteria. NEK: C. perfringens, Enterobacterales. C. difficile taşıyıcılık paternleri izlenir.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648200" y="711101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Patojenite Belirteçleri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48200" y="933152"/>
            <a:ext cx="2038350" cy="433983"/>
          </a:xfrm>
          <a:prstGeom prst="roundRect">
            <a:avLst>
              <a:gd name="adj" fmla="val 877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715256" y="1031528"/>
            <a:ext cx="1904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mecA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715256" y="1171129"/>
            <a:ext cx="1904238" cy="9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spcBef>
                <a:spcPts val="200"/>
              </a:spcBef>
              <a:buNone/>
            </a:pPr>
            <a:r>
              <a:rPr lang="en-US" sz="5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Metisiline dirençli </a:t>
            </a:r>
            <a:r>
              <a:rPr lang="en-US" sz="5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Staphylococcus</a:t>
            </a:r>
            <a:r>
              <a:rPr lang="en-US" sz="5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tespiti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6749951" y="933152"/>
            <a:ext cx="2038499" cy="433983"/>
          </a:xfrm>
          <a:prstGeom prst="roundRect">
            <a:avLst>
              <a:gd name="adj" fmla="val 877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817005" y="1031528"/>
            <a:ext cx="19043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srr2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817005" y="1171129"/>
            <a:ext cx="1904390" cy="9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spcBef>
                <a:spcPts val="200"/>
              </a:spcBef>
              <a:buNone/>
            </a:pPr>
            <a:r>
              <a:rPr lang="en-US" sz="5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Str. agalactiae</a:t>
            </a:r>
            <a:r>
              <a:rPr lang="en-US" sz="5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invazivliği; menenjiti teşvik eder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4648200" y="1430536"/>
            <a:ext cx="2038350" cy="433983"/>
          </a:xfrm>
          <a:prstGeom prst="roundRect">
            <a:avLst>
              <a:gd name="adj" fmla="val 877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715256" y="1528911"/>
            <a:ext cx="1904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tcdA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715256" y="1668512"/>
            <a:ext cx="1904238" cy="9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spcBef>
                <a:spcPts val="200"/>
              </a:spcBef>
              <a:buNone/>
            </a:pPr>
            <a:r>
              <a:rPr lang="en-US" sz="5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difficile</a:t>
            </a:r>
            <a:r>
              <a:rPr lang="en-US" sz="5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enterotoksin A</a:t>
            </a:r>
            <a:endParaRPr lang="en-US" sz="550" dirty="0"/>
          </a:p>
        </p:txBody>
      </p:sp>
      <p:sp>
        <p:nvSpPr>
          <p:cNvPr id="42" name="Text 39"/>
          <p:cNvSpPr/>
          <p:nvPr/>
        </p:nvSpPr>
        <p:spPr>
          <a:xfrm>
            <a:off x="6749951" y="1430536"/>
            <a:ext cx="2038499" cy="433983"/>
          </a:xfrm>
          <a:prstGeom prst="roundRect">
            <a:avLst>
              <a:gd name="adj" fmla="val 877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817005" y="1528911"/>
            <a:ext cx="19043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tcdB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817005" y="1668512"/>
            <a:ext cx="1904390" cy="9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spcBef>
                <a:spcPts val="200"/>
              </a:spcBef>
              <a:buNone/>
            </a:pPr>
            <a:r>
              <a:rPr lang="en-US" sz="5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difficile</a:t>
            </a:r>
            <a:r>
              <a:rPr lang="en-US" sz="5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enterotoksin B (sitotoksin)</a:t>
            </a:r>
            <a:endParaRPr lang="en-US" sz="550" dirty="0"/>
          </a:p>
        </p:txBody>
      </p:sp>
      <p:sp>
        <p:nvSpPr>
          <p:cNvPr id="45" name="Text 42"/>
          <p:cNvSpPr/>
          <p:nvPr/>
        </p:nvSpPr>
        <p:spPr>
          <a:xfrm>
            <a:off x="4648200" y="1927920"/>
            <a:ext cx="4140250" cy="587276"/>
          </a:xfrm>
          <a:prstGeom prst="roundRect">
            <a:avLst>
              <a:gd name="adj" fmla="val 6488"/>
            </a:avLst>
          </a:prstGeom>
          <a:solidFill>
            <a:srgbClr val="D1FAE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759226" y="2026295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Rapor Oluşturma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4759226" y="2169170"/>
            <a:ext cx="39965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Önerilen Real-Time PCR cihazları ve RealTime_PCR yazılımı ile sonuç formu otomatik oluşturulur. Ön tanımlı şablonlar ayarları yapılandırır ve sonuçları hesaplar. Manuel veri girişi gerekmez.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4648200" y="2578596"/>
            <a:ext cx="4140250" cy="1334691"/>
          </a:xfrm>
          <a:prstGeom prst="roundRect">
            <a:avLst>
              <a:gd name="adj" fmla="val 28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759226" y="2676971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 İçeriği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759226" y="2832497"/>
            <a:ext cx="3918198" cy="98241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Filum düzeyinde normobiyota kantitatif tahmini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Bifidobakteri tür tanımlaması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Fırsatçı mikrobiyota ve </a:t>
            </a:r>
            <a:r>
              <a:rPr lang="en-US" sz="6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</a:t>
            </a: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düzeyleri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Antibiyotik direnç belirteçleri (mecA)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Virülans belirteçleri (srr2, tcdA, tcdB)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Bacillota/Bacteroidota oranı hesaplaması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disbiyoz sınıflandırması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85738"/>
            <a:ext cx="49688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— Erkek Ürogenital Mikrobiyotası</a:t>
            </a:r>
            <a:endParaRPr lang="en-US" sz="16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87301"/>
            <a:ext cx="8229600" cy="599182"/>
          </a:xfrm>
          <a:prstGeom prst="roundRect">
            <a:avLst>
              <a:gd name="adj" fmla="val 847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4150" y="914251"/>
            <a:ext cx="813521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Erkek ürogenital sistem mikrobiyotası değerlendirmesi ve CYBH tespiti için kapsamlı gerçek zamanlı PCR tabanlı test. Dünyada eşdeğeri bulunmayan kit. Uygulamalı çalışma süresi 3 saatten itibaren.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1513433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(Tam)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707059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Ayrıntılı mikrobiyom yapısı değerlendirmesi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884759"/>
            <a:ext cx="3987850" cy="134064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flora: Staphylococcus, Streptococcus, Corynebacterium, Lactobacillus spp.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 ilişkili: Gardnerella, Megasphaera, Sneathia, Ureaplasma, Mycoplasma, Atopobium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Anaeroblar: Bacteroides, Anaerococcus, Peptostreptococcus, Eubacterium spp.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Diğer FM: Haemophilus, Pseudomonas/Ralstonia/Burkholderia, Enterobacteriaceae/Enterococcus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Maya: Candida spp.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CYBH: C. trachomatis, M. genitalium, N. gonorrhoeae, T. vaginalis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98950" y="1513433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Screen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98950" y="1707059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Tarama ve akut tanı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98950" y="1884759"/>
            <a:ext cx="3987850" cy="100548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 tarama için kısaltılmış panel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Normal: Staphylococcus, Streptococcus, Corynebacterium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Fırsatçı: Gardnerella, Ureaplasma, Mycoplasma, Enterobacteriaceae/Enterococcus, Candida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CYBH paneli: C. trachomatis, M. genitalium, N. gonorrhoeae, T. vaginalis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Akut ürogenital sistem hastalıkları için idealdir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98950" y="2966442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Durumda Hangisi Kullanılmalı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698950" y="3131493"/>
            <a:ext cx="3987850" cy="33516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Screen: Tarama, akut formların ayırıcı tanısı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Kronik hastalıklar, etkisiz tedavi, üreme fonksiyonu, tüp bebek hazırlığı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85738"/>
            <a:ext cx="47312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— Tespit Paneli Karşılaştırması</a:t>
            </a:r>
            <a:endParaRPr lang="en-US" sz="16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49883" y="787301"/>
            <a:ext cx="4444234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0"/>
              </a:lnSpc>
              <a:spcAft>
                <a:spcPts val="1200"/>
              </a:spcAft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ve Androbiome Screen tarafından saptanan organizmaların kapsamlı karşılaştırması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50741" y="2808684"/>
            <a:ext cx="20830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Androbiome Tespit Paneli Tablosu ]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99868"/>
            <a:ext cx="8394192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Tamamlayıcı testler: HSV1/HSV2/CMV, HPVQuant-21, BacScreen OM, FEMOBIOME (çift muayenesi)</a:t>
            </a:r>
            <a:endParaRPr lang="en-US" sz="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102221"/>
          <a:ext cx="6675120" cy="248716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Kategori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Organizma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Tam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Screen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Normal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Staphylococcus spp., Streptococcus spp., Corynebacterium spp.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Geçici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Lactobacillus spp.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BV-ilişkili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Gardnerella, Megasphaera/Veillonella/Dialister, Sneathia/Leptotrichia/Fusobacterium, Atopobium kümesi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Mikoplazmalar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Ureaplasma urealyticum, U. parvum, Mycoplasma hominis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Anaeroblar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Bacteroides/Porphyromonas/Prevotella, Anaerococcus, Peptostreptococcus/Parvimonas, Eubacterium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Diğer FM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Haemophilus spp., Pseudomonas/Ralstonia/Burkholderia, Enterobacteriaceae/Enterococcus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F59E0B"/>
                          </a:solidFill>
                        </a:rPr>
                        <a:t>Kısmi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Maya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Candida spp.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CYBH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C. trachomatis, M. genitalium, N. gonorrhoeae, T. vaginalis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95263"/>
            <a:ext cx="520690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— Klinik Uygulamalar ve Numune Alımı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62000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Endikasyonlar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981075"/>
            <a:ext cx="3987850" cy="8379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Screen: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Akut ürogenital hastalıkların taranması ve ayırıcı tanısı (üretrit, balanopostit)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(Tam):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Kronik formlar, etkisiz tedavi, üreme fonksiyonu değerlendirmesi, TÜP hazırlığı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Çift muayenesi: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İnfertilite değerlendirmesinde FEMOBIOME ile birlikte kullanım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920478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Hazırlık Gereksinimleri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2085529"/>
            <a:ext cx="3987850" cy="67032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gün süreyle cinsel perhiz veya bariyer kontrasepsiyon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Antiseptik ve antibakteriyel sabun kullanımından kaçınılmalıdır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Üretral numune alımından 1,5-2 saat önce idrar yapılmamalıdır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İzlem amacıyla antibiyotik tedavisi sırasında da test istenebilir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98950" y="762000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Biyomateryal Seçenekleri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98950" y="981075"/>
            <a:ext cx="3987850" cy="117306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Epitel sürüntüleri: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Glans penis, sünnet derisi, üretra (üretrit, balanopostit)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Ejakülat: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Epididimit, prostatit, asemptomatik CYBH, erkek infertilitesi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Prostat sıvısı: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Prostat masajı sonrası (akut prostatit durumunda masaj kontrendikedir)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Masaj sonrası rezidüel idrar: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Prostat sıvısı toplamanın alternatifi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porsiyon idrar: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Yalnızca CYBH tespiti (ağrılı akut enflamasyon)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Biyopsi örnekleri: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Steril salin içinde prostat dokusu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98950" y="2255639"/>
            <a:ext cx="3987850" cy="507802"/>
          </a:xfrm>
          <a:prstGeom prst="roundRect">
            <a:avLst>
              <a:gd name="adj" fmla="val 500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718000" y="2255639"/>
            <a:ext cx="0" cy="507802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/>
          <p:nvPr/>
        </p:nvSpPr>
        <p:spPr>
          <a:xfrm>
            <a:off x="4838551" y="2357140"/>
            <a:ext cx="38216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Saklama: 2-8°C'de 24 saate kadar. Dondurulmuş: -18 ile -22°C'de 1 aya kadar. Tek numuneden birden fazla PCR testi yapılabilir.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85738"/>
            <a:ext cx="44387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— Sonuçların Yorumlanması</a:t>
            </a:r>
            <a:endParaRPr lang="en-US" sz="16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62000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Adımlı Yorumlama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981075"/>
            <a:ext cx="3987850" cy="128736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Zorunlu patojenlerin (CYBH) ve Candida spp. değerlendirilmesi — yetersiz biyomateryalde bile raporlanır</a:t>
            </a:r>
            <a:endParaRPr lang="en-US" sz="800" dirty="0"/>
          </a:p>
          <a:p>
            <a:pPr marL="88900" indent="-88900" algn="l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Biyomateryal uygunluk kontrolü: İnsan DNA'sı &gt;10³, TBM &gt;10⁴. Her ikisi de eşik altında → yetersiz numune</a:t>
            </a:r>
            <a:endParaRPr lang="en-US" sz="800" dirty="0"/>
          </a:p>
          <a:p>
            <a:pPr marL="88900" indent="-88900" algn="l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Denge değerlendirmesi: normal ve fırsatçı mikrobiyota. Normal = TBM &gt;10⁵ düzeyinde 2+ kommensal cins</a:t>
            </a:r>
            <a:endParaRPr lang="en-US" sz="800" dirty="0"/>
          </a:p>
          <a:p>
            <a:pPr marL="88900" indent="-88900" algn="l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sonuç oluşturma: patojen varlığı, Candida durumu, mikrobiyom yapısı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2357289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Geçici Mikrobiyota (Lactobacillus)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2522339"/>
            <a:ext cx="3987850" cy="50274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Erkek genital sisteminde kadın partnerin mikrobiyotasının göstergesi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TBM'nin &gt;%10'u ise → mikrobiyom kompozisyonu analiz EDİLMEZ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Öneri: bariyer kontrasepsiyon veya 3 günlük cinsel perhiz sonrası tekrarlanmalıdır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98950" y="762000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Göstergeler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98950" y="993725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Parametreleri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698950" y="1158776"/>
            <a:ext cx="3987850" cy="8379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DNA'sı: numunedeki insan genomik materyal miktarını gösterir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Bakteri Kütlesi (TBM): oran hesaplamaları için toplam bakteri miktarı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Saptanan Mikroorganizmalar (TMD): grup oranları için matematiksel parametre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 ve T. vaginalis TBM'ye dahil DEĞİLDİR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98950" y="2085529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 Kategorileri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698950" y="227588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51202" y="2250579"/>
            <a:ext cx="391231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kompozisyon — kommensaller (Staphylococcus, Streptococcus, Corynebacterium) baskın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98950" y="263902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51202" y="2613720"/>
            <a:ext cx="278045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 düzey bozukluk — normal mikrobiyota oranında azalma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98950" y="283964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51202" y="2814340"/>
            <a:ext cx="266508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Ağır bozukluk — fırsatçı baskınlık veya CYBH saptanması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98950" y="3065711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Çift Muayenesi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698950" y="3230761"/>
            <a:ext cx="4067607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İnfertilite değerlendirmesinde kapsamlı partner analizi için ANDROBIOME + FEMOBIOME birlikte kullanımı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B26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95263"/>
            <a:ext cx="44207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 Platformu — Neden Real-Time PCR?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87301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PCR ve Alternatif Yöntemler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92101"/>
            <a:ext cx="2624733" cy="3898999"/>
          </a:xfrm>
          <a:prstGeom prst="roundRect">
            <a:avLst>
              <a:gd name="adj" fmla="val 1935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57200" y="1111151"/>
            <a:ext cx="2624733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5"/>
          <p:cNvSpPr/>
          <p:nvPr/>
        </p:nvSpPr>
        <p:spPr>
          <a:xfrm>
            <a:off x="609600" y="1282601"/>
            <a:ext cx="2366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Bakteri Kültürüne Karşı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9600" y="1504801"/>
            <a:ext cx="2319933" cy="971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Bağırsak mikroorganizmalarının %50-80'i kültürde üretilmesi güçtür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Organizmanın canlılığına bağımlılık yok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Kültür yöntemlerinin kaçırdığı anaerobları saptar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Daha kısa sonuç verme süresi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Daha kapsamlı kapsama alanı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259634" y="1092101"/>
            <a:ext cx="2624733" cy="3898999"/>
          </a:xfrm>
          <a:prstGeom prst="roundRect">
            <a:avLst>
              <a:gd name="adj" fmla="val 1935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259634" y="1111151"/>
            <a:ext cx="2624733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/>
          <p:nvPr/>
        </p:nvSpPr>
        <p:spPr>
          <a:xfrm>
            <a:off x="3412034" y="1282601"/>
            <a:ext cx="2366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NGS Dizilemeye Karşı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12034" y="1504801"/>
            <a:ext cx="2319933" cy="971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Sonuçlar uzman yorumu gerektirmeden klinik olarak uygulanabilir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Rutin tanıda daha maliyet etkin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ve tekrarlanabilir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Rutin klinik yöntem olarak uygundur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Biyoinformatik uzmanlığı gerektirmez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062067" y="1092101"/>
            <a:ext cx="2624733" cy="3898999"/>
          </a:xfrm>
          <a:prstGeom prst="roundRect">
            <a:avLst>
              <a:gd name="adj" fmla="val 1935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062067" y="1111151"/>
            <a:ext cx="2624733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/>
          <p:nvPr/>
        </p:nvSpPr>
        <p:spPr>
          <a:xfrm>
            <a:off x="6214467" y="1282601"/>
            <a:ext cx="2366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Platform Avantajları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14467" y="1504801"/>
            <a:ext cx="2319933" cy="11334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Hepsi bir arada: numune alımından rapor yorumlamaya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(384 kuyucuk) ve manuel (96 kuyucuk) PCR formatları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 nükleik asit ekstraksiyonu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Verimlilik için multipleks format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yorumlamalı kantitatif sonuçlar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B26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0025"/>
            <a:ext cx="38359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 Özellikler ve Platform Uyumluluğu</a:t>
            </a:r>
            <a:endParaRPr lang="en-US" sz="145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87301"/>
            <a:ext cx="4041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Ekstraksiyon ve PCR Platformları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31677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Ekstraksiyonu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1196727"/>
            <a:ext cx="3962400" cy="69115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Allsheng Auto-Pure 96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KingFisher Flex (PREP-MB-RAPID II)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PREP-MB MAX (ejakülat için)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PREP-NA PLUS, PREP-GS PLUS (alternatifler)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989386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Kurulumu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2154436"/>
            <a:ext cx="3962400" cy="69115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384 kuyucuk formatı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96 kuyucuk formatı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Başlıca real-time PCR cihazları için önceden tanımlanmış şablonlar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RealTime_PCR yazılımı ile otomatik sonuç oluşturma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24400" y="787301"/>
            <a:ext cx="4041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Saklama ve Lojistik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24400" y="1031677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Saklama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24400" y="1196727"/>
            <a:ext cx="3962400" cy="51836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ile +8°C: S, A, A-TL paketleri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ile -22°C: TechnoTaq MAX polimeraz (A paketi)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 ömrü: tüm kitler için 12 ay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24400" y="1816596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Numune Saklama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24400" y="1981646"/>
            <a:ext cx="3962400" cy="51836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2-8°C: 24 saate kadar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ile -22°C: 1 aya kadar (dondurulmuş)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Taşıma besiyeri: STOR-F, STOR-M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24400" y="2601516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Uyumlu Sıvı Sitoloji Besiyerleri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24400" y="2766566"/>
            <a:ext cx="3962400" cy="69115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PreservCyt (Hologic Inc., ABD)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SurePath (Becton, Dickinson, ABD)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EASYPREP (YD Diagnostics, Güney Kore)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CellPrep (CP Biodyne, Güney Kore)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409" y="507950"/>
            <a:ext cx="1653183" cy="507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22108" y="1193602"/>
            <a:ext cx="3699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Mikrobiyom Test Çözümleri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772507" y="1618952"/>
            <a:ext cx="359898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mikrobiyota değerlendirmesi için kapsamlı moleküler tanı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0498" y="2222450"/>
            <a:ext cx="2158901" cy="669875"/>
          </a:xfrm>
          <a:prstGeom prst="roundRect">
            <a:avLst>
              <a:gd name="adj" fmla="val 113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74073" y="2384375"/>
            <a:ext cx="1871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74073" y="2578001"/>
            <a:ext cx="1871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Kadın ürogenital mikrobiyotası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92550" y="2222450"/>
            <a:ext cx="2158901" cy="669875"/>
          </a:xfrm>
          <a:prstGeom prst="roundRect">
            <a:avLst>
              <a:gd name="adj" fmla="val 113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36124" y="2384375"/>
            <a:ext cx="1871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36124" y="2578001"/>
            <a:ext cx="1871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Çocuk bağırsak mikrobiyotası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854601" y="2222450"/>
            <a:ext cx="2158901" cy="669875"/>
          </a:xfrm>
          <a:prstGeom prst="roundRect">
            <a:avLst>
              <a:gd name="adj" fmla="val 113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998175" y="2384375"/>
            <a:ext cx="1871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98175" y="2578001"/>
            <a:ext cx="1871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Erkek ürogenital mikrobiyotası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134350" y="4178498"/>
            <a:ext cx="875002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Bilgi ve sipariş için: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027630" y="4379119"/>
            <a:ext cx="10885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www.genomer.com.tr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076056" y="4599980"/>
            <a:ext cx="99174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info@genomer.com.tr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3279</Words>
  <Application>Microsoft Macintosh PowerPoint</Application>
  <PresentationFormat>On-screen Show (16:9)</PresentationFormat>
  <Paragraphs>573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Genomer Mikrobiyom Test Hattı — Klinik Ürün Portföyü</dc:title>
  <dc:subject>FEMOBIOME II HATTI, ENTEROBIOME KIDS, ANDROBIOME</dc:subject>
  <dc:creator>Genomer</dc:creator>
  <cp:lastModifiedBy>Kadir Ozturk Ozturk</cp:lastModifiedBy>
  <cp:revision>3</cp:revision>
  <dcterms:created xsi:type="dcterms:W3CDTF">2026-01-30T11:49:40Z</dcterms:created>
  <dcterms:modified xsi:type="dcterms:W3CDTF">2026-02-02T03:56:44Z</dcterms:modified>
</cp:coreProperties>
</file>